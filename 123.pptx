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</p:sldIdLst>
  <p:sldSz cx="9144000" cy="5143500" type="screen16x9"/>
  <p:notesSz cx="5143500" cy="9144000"/>
  <p:embeddedFontLst>
    <p:embeddedFont>
      <p:font typeface="Instrument Sans Medium" panose="020B0604020202020204" charset="0"/>
      <p:regular r:id="rId10"/>
    </p:embeddedFont>
    <p:embeddedFont>
      <p:font typeface="Instrument Sans Semi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0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08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42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FA2B2-16BD-F845-9E3D-C0870FA87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8AD6E-CF04-3CC1-1F49-5EC236CEB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A5EAD-2058-30FF-C6D9-DCF66FA5B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D42A0-92F5-A2FD-9D69-140B4FEA68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15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9F87F8A-7275-E8C3-26C3-ADE3F28316E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/>
          <p:cNvSpPr/>
          <p:nvPr/>
        </p:nvSpPr>
        <p:spPr>
          <a:xfrm>
            <a:off x="2382167" y="848172"/>
            <a:ext cx="420670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                          123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2345877" y="2139330"/>
            <a:ext cx="4722763" cy="1520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Жанр: </a:t>
            </a:r>
            <a:r>
              <a:rPr lang="en-US" sz="1100" dirty="0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аркадный</a:t>
            </a: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action. Текущая стадия: рабочий прототип (игровая механика и основной цикл реализованы в Pygame).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Почему выбрали такой формат: лёгкая кодовая база для быстрых итераций, низкий порог входа для сообщества моддеров, фокус на игре‑навыке и генерации уровней.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BDE7275-6F67-A0CA-42C7-A6668721A8F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1287"/>
            <a:ext cx="3855244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Технологический стек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974452"/>
            <a:ext cx="315590" cy="31559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430536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Язык и движок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3925119" y="1695227"/>
            <a:ext cx="4722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Python + Pygame — быстрое прототипирование, простое развёртывание и читаемый код.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301999"/>
            <a:ext cx="315590" cy="3155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25119" y="2758083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Библиотеки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925119" y="3022774"/>
            <a:ext cx="4722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Стандартные модули: math, random,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3629546"/>
            <a:ext cx="315590" cy="31559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25119" y="4085630"/>
            <a:ext cx="171777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Инструменты дизайна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925119" y="4350321"/>
            <a:ext cx="4722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Спрайты и концепты рисуются в Aseprite / Krita / Photoshop — выбор определяется удобством </a:t>
            </a:r>
            <a:r>
              <a:rPr lang="en-US" sz="950" dirty="0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пиксельного</a:t>
            </a: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workflow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437E34E-A756-410E-BDA9-EF19CB03921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96119" y="1147986"/>
            <a:ext cx="598586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Ключевая механика разработки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74490"/>
            <a:ext cx="552450" cy="552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748" y="1874490"/>
            <a:ext cx="11753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Биомы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25748" y="2181002"/>
            <a:ext cx="117537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Лес, пустыня, город — каждый биом даёт цветовую палитру и уникальные тайлы 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874490"/>
            <a:ext cx="552450" cy="552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07928" y="1874490"/>
            <a:ext cx="11754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Генерация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07928" y="2181002"/>
            <a:ext cx="117544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Простая процедурка для размещения врагов и чанков — цель: быстрые перезапуски коротких сражений.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874490"/>
            <a:ext cx="552450" cy="552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0183" y="1874490"/>
            <a:ext cx="11754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Игрок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390183" y="2181002"/>
            <a:ext cx="117544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Игрок  квадратный спрайт с параметрами position, size, speed и альфа‑эффектом.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7472437" y="1874490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Босс и поведение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472437" y="2402458"/>
            <a:ext cx="117544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Сценарные атаки: зона, стрелы, рывок, кинжалы. аое атаки </a:t>
            </a:r>
            <a:r>
              <a:rPr lang="en-US" sz="1100" dirty="0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особенно</a:t>
            </a: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100" dirty="0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опасны</a:t>
            </a:r>
            <a:endParaRPr lang="en-US" sz="11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4D01884-4845-97FA-2E0B-3D6E0FCD7C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462" y="1844752"/>
            <a:ext cx="515141" cy="5577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626B8AC-186F-90DF-8A87-8F12F357CF4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/>
          <p:cNvSpPr/>
          <p:nvPr/>
        </p:nvSpPr>
        <p:spPr>
          <a:xfrm>
            <a:off x="2155701" y="211502"/>
            <a:ext cx="483259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Тестирование мира и чанков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057904" y="1101095"/>
            <a:ext cx="221009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Параметры мира, </a:t>
            </a:r>
            <a:r>
              <a:rPr lang="en-US" sz="1200" dirty="0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которые</a:t>
            </a:r>
            <a:r>
              <a:rPr lang="en-US" sz="12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200" dirty="0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тестиру</a:t>
            </a:r>
            <a:r>
              <a:rPr lang="ru-RU" sz="1200" dirty="0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ются</a:t>
            </a:r>
            <a:r>
              <a:rPr lang="en-US" sz="12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2515" y="1831086"/>
            <a:ext cx="2315951" cy="1750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Время раунда (time_limit) — влияет на динамику и сложность</a:t>
            </a:r>
            <a:endParaRPr lang="en-US" sz="10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Интервалы атак (shoot_interval, attack_cooldown) — баланс сложности</a:t>
            </a:r>
            <a:endParaRPr lang="en-US" sz="10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Частота появления врагов и их скорости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687120" y="1160049"/>
            <a:ext cx="266729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Типы чанков/объектов и свойства: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4724" y="1632046"/>
            <a:ext cx="2210098" cy="186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Статически</a:t>
            </a:r>
            <a:r>
              <a:rPr lang="ru-RU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й</a:t>
            </a: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ru-RU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визуал</a:t>
            </a: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(фон биома)  только визуал, не влияют на физику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Враждебные чанки (enemy spawns) — имеют параметры speed, ranged, </a:t>
            </a:r>
            <a:r>
              <a:rPr lang="en-US" sz="1100" dirty="0" err="1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размер</a:t>
            </a:r>
            <a:r>
              <a:rPr lang="ru-RU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И паттерн поведений.</a:t>
            </a:r>
            <a:endParaRPr lang="en-US" sz="11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05A88B08-CAE4-5BCD-A198-F39A51DDE385}"/>
              </a:ext>
            </a:extLst>
          </p:cNvPr>
          <p:cNvSpPr/>
          <p:nvPr/>
        </p:nvSpPr>
        <p:spPr>
          <a:xfrm>
            <a:off x="1314611" y="1253067"/>
            <a:ext cx="188053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4F05F66-3594-E19B-6828-94892BD35043}"/>
              </a:ext>
            </a:extLst>
          </p:cNvPr>
          <p:cNvSpPr/>
          <p:nvPr/>
        </p:nvSpPr>
        <p:spPr>
          <a:xfrm>
            <a:off x="0" y="9715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/>
          <p:cNvSpPr/>
          <p:nvPr/>
        </p:nvSpPr>
        <p:spPr>
          <a:xfrm>
            <a:off x="496119" y="401241"/>
            <a:ext cx="4722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Дизайн спрайтов и инструменты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96119" y="2222987"/>
            <a:ext cx="472276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Подход к арту: читаемые силуэты, ограниченная палитра, акцент на читабельности атак и эффектов. </a:t>
            </a:r>
            <a:r>
              <a:rPr lang="ru-RU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</a:p>
          <a:p>
            <a:pPr marL="0" indent="0" algn="l">
              <a:lnSpc>
                <a:spcPct val="127000"/>
              </a:lnSpc>
              <a:buNone/>
            </a:pPr>
            <a:endParaRPr lang="ru-RU" sz="1000" dirty="0">
              <a:solidFill>
                <a:srgbClr val="CFD0D8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0" indent="0" algn="l">
              <a:lnSpc>
                <a:spcPct val="127000"/>
              </a:lnSpc>
              <a:buNone/>
            </a:pP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058775" y="2853031"/>
            <a:ext cx="3570083" cy="1717253"/>
          </a:xfrm>
          <a:prstGeom prst="roundRect">
            <a:avLst>
              <a:gd name="adj" fmla="val 360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6162109" y="2854184"/>
            <a:ext cx="12302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 dirty="0">
                <a:solidFill>
                  <a:srgbClr val="CFD0D8"/>
                </a:solidFill>
              </a:rPr>
              <a:t>Boss</a:t>
            </a:r>
            <a:endParaRPr lang="en-US" b="1" dirty="0"/>
          </a:p>
        </p:txBody>
      </p:sp>
      <p:sp>
        <p:nvSpPr>
          <p:cNvPr id="7" name="Text 4"/>
          <p:cNvSpPr/>
          <p:nvPr/>
        </p:nvSpPr>
        <p:spPr>
          <a:xfrm>
            <a:off x="5311159" y="3215182"/>
            <a:ext cx="3184499" cy="64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ru-RU" sz="1000" dirty="0">
                <a:solidFill>
                  <a:srgbClr val="CFD0D8"/>
                </a:solidFill>
              </a:rPr>
              <a:t>Самый большой квадратик в игре. Может телепортироваться прямо в игрока и ему за это не будет ничего. А игрок начнёт всё заново.</a:t>
            </a:r>
          </a:p>
        </p:txBody>
      </p:sp>
      <p:sp>
        <p:nvSpPr>
          <p:cNvPr id="8" name="Shape 5"/>
          <p:cNvSpPr/>
          <p:nvPr/>
        </p:nvSpPr>
        <p:spPr>
          <a:xfrm>
            <a:off x="5087140" y="486822"/>
            <a:ext cx="1496690" cy="1717253"/>
          </a:xfrm>
          <a:prstGeom prst="roundRect">
            <a:avLst>
              <a:gd name="adj" fmla="val 360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5220341" y="620023"/>
            <a:ext cx="12302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600" b="1" i="1" dirty="0">
                <a:solidFill>
                  <a:srgbClr val="CFD0D8"/>
                </a:solidFill>
              </a:rPr>
              <a:t>Игрок</a:t>
            </a:r>
            <a:endParaRPr lang="en-US" sz="1600" b="1" i="1" dirty="0">
              <a:solidFill>
                <a:srgbClr val="CFD0D8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1" y="2876646"/>
            <a:ext cx="1230288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32168" y="486822"/>
            <a:ext cx="1496690" cy="1717253"/>
          </a:xfrm>
          <a:prstGeom prst="roundRect">
            <a:avLst>
              <a:gd name="adj" fmla="val 360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7265370" y="620023"/>
            <a:ext cx="1230288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Враги</a:t>
            </a: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/</a:t>
            </a:r>
            <a:r>
              <a:rPr lang="ru-RU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мобы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265370" y="1091213"/>
            <a:ext cx="1230288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ru-RU" sz="1000" dirty="0">
                <a:solidFill>
                  <a:srgbClr val="CFD0D8"/>
                </a:solidFill>
              </a:rPr>
              <a:t>У них есть поведение.</a:t>
            </a:r>
            <a:br>
              <a:rPr lang="ru-RU" sz="1000" dirty="0">
                <a:solidFill>
                  <a:srgbClr val="CFD0D8"/>
                </a:solidFill>
              </a:rPr>
            </a:br>
            <a:r>
              <a:rPr lang="ru-RU" sz="1000" dirty="0">
                <a:solidFill>
                  <a:srgbClr val="CFD0D8"/>
                </a:solidFill>
              </a:rPr>
              <a:t>Они больше чем игрок. Умеют убивать игрока. Они существуют только для этого.</a:t>
            </a:r>
            <a:endParaRPr lang="en-US" sz="1000" dirty="0">
              <a:solidFill>
                <a:srgbClr val="CFD0D8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B92C24-BF33-4395-E78F-1CD652A7690B}"/>
              </a:ext>
            </a:extLst>
          </p:cNvPr>
          <p:cNvSpPr txBox="1"/>
          <p:nvPr/>
        </p:nvSpPr>
        <p:spPr>
          <a:xfrm>
            <a:off x="496118" y="1366345"/>
            <a:ext cx="40758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CFD0D8"/>
                </a:solidFill>
              </a:rPr>
              <a:t>• Для дизайна использовались встроенные</a:t>
            </a:r>
            <a:br>
              <a:rPr lang="ru-RU" sz="1400" dirty="0">
                <a:solidFill>
                  <a:srgbClr val="CFD0D8"/>
                </a:solidFill>
              </a:rPr>
            </a:br>
            <a:r>
              <a:rPr lang="ru-RU" sz="1400" dirty="0">
                <a:solidFill>
                  <a:srgbClr val="CFD0D8"/>
                </a:solidFill>
              </a:rPr>
              <a:t>    примитивы </a:t>
            </a:r>
            <a:r>
              <a:rPr lang="en-US" sz="1400" dirty="0" err="1">
                <a:solidFill>
                  <a:srgbClr val="CFD0D8"/>
                </a:solidFill>
              </a:rPr>
              <a:t>pygame</a:t>
            </a:r>
            <a:r>
              <a:rPr lang="en-US" sz="1400" dirty="0">
                <a:solidFill>
                  <a:srgbClr val="CFD0D8"/>
                </a:solidFill>
              </a:rPr>
              <a:t>. </a:t>
            </a:r>
            <a:br>
              <a:rPr lang="ru-RU" sz="1400" dirty="0">
                <a:solidFill>
                  <a:srgbClr val="CFD0D8"/>
                </a:solidFill>
              </a:rPr>
            </a:br>
            <a:r>
              <a:rPr lang="ru-RU" sz="1400" dirty="0">
                <a:solidFill>
                  <a:srgbClr val="CFD0D8"/>
                </a:solidFill>
              </a:rPr>
              <a:t>Это программа заточена под простую 2D графику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398851-22A3-968F-5996-8CD043156879}"/>
              </a:ext>
            </a:extLst>
          </p:cNvPr>
          <p:cNvSpPr txBox="1"/>
          <p:nvPr/>
        </p:nvSpPr>
        <p:spPr>
          <a:xfrm>
            <a:off x="5156527" y="886181"/>
            <a:ext cx="129410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>
                <a:solidFill>
                  <a:srgbClr val="CFD0D8"/>
                </a:solidFill>
              </a:rPr>
              <a:t>синий квадратик</a:t>
            </a:r>
          </a:p>
          <a:p>
            <a:r>
              <a:rPr lang="ru-RU" sz="1050" dirty="0">
                <a:solidFill>
                  <a:srgbClr val="CFD0D8"/>
                </a:solidFill>
              </a:rPr>
              <a:t> 40</a:t>
            </a:r>
            <a:r>
              <a:rPr lang="en-US" sz="1050" dirty="0">
                <a:solidFill>
                  <a:srgbClr val="CFD0D8"/>
                </a:solidFill>
              </a:rPr>
              <a:t>x40</a:t>
            </a:r>
            <a:r>
              <a:rPr lang="ru-RU" sz="1050" dirty="0">
                <a:solidFill>
                  <a:srgbClr val="CFD0D8"/>
                </a:solidFill>
              </a:rPr>
              <a:t>, с базовой скоростью 5. </a:t>
            </a:r>
          </a:p>
          <a:p>
            <a:endParaRPr lang="ru-RU" sz="1050" dirty="0">
              <a:solidFill>
                <a:srgbClr val="CFD0D8"/>
              </a:solidFill>
            </a:endParaRPr>
          </a:p>
          <a:p>
            <a:endParaRPr lang="ru-RU" sz="1050" dirty="0">
              <a:solidFill>
                <a:srgbClr val="CFD0D8"/>
              </a:solidFill>
            </a:endParaRPr>
          </a:p>
          <a:p>
            <a:r>
              <a:rPr lang="ru-RU" sz="1050" dirty="0">
                <a:solidFill>
                  <a:srgbClr val="CFD0D8"/>
                </a:solidFill>
              </a:rPr>
              <a:t>Жалкое зрелище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2A5A9B-EF51-0DBD-5962-BF13E7035E9E}"/>
              </a:ext>
            </a:extLst>
          </p:cNvPr>
          <p:cNvSpPr txBox="1"/>
          <p:nvPr/>
        </p:nvSpPr>
        <p:spPr>
          <a:xfrm>
            <a:off x="5058775" y="4164369"/>
            <a:ext cx="168780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>
                <a:solidFill>
                  <a:srgbClr val="CFD0D8"/>
                </a:solidFill>
              </a:rPr>
              <a:t>Любой баг – это лишь  новая способность босса</a:t>
            </a:r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28F3E0AB-3C8A-340E-1827-F17CA98A2AD0}"/>
              </a:ext>
            </a:extLst>
          </p:cNvPr>
          <p:cNvSpPr/>
          <p:nvPr/>
        </p:nvSpPr>
        <p:spPr>
          <a:xfrm>
            <a:off x="496118" y="4164369"/>
            <a:ext cx="2165240" cy="415498"/>
          </a:xfrm>
          <a:prstGeom prst="roundRect">
            <a:avLst>
              <a:gd name="adj" fmla="val 3605"/>
            </a:avLst>
          </a:prstGeom>
          <a:solidFill>
            <a:schemeClr val="tx1">
              <a:lumMod val="95000"/>
              <a:lumOff val="5000"/>
            </a:schemeClr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r>
              <a:rPr lang="ru-RU" sz="900" dirty="0">
                <a:solidFill>
                  <a:schemeClr val="bg1">
                    <a:lumMod val="65000"/>
                  </a:schemeClr>
                </a:solidFill>
              </a:rPr>
              <a:t>В момент когда вы умрёте, появится анимация.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2BDA96-CE8B-77E4-2945-BAC98C4548A5}"/>
              </a:ext>
            </a:extLst>
          </p:cNvPr>
          <p:cNvSpPr txBox="1"/>
          <p:nvPr/>
        </p:nvSpPr>
        <p:spPr>
          <a:xfrm>
            <a:off x="496119" y="4660023"/>
            <a:ext cx="2660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>
                    <a:lumMod val="65000"/>
                  </a:schemeClr>
                </a:solidFill>
              </a:rPr>
              <a:t>Умирайте чаще))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C02A7-4E1B-826C-7837-92056B7E2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1C07094-7FD2-EF6E-89E7-24CB804E3B3A}"/>
              </a:ext>
            </a:extLst>
          </p:cNvPr>
          <p:cNvSpPr/>
          <p:nvPr/>
        </p:nvSpPr>
        <p:spPr>
          <a:xfrm>
            <a:off x="1" y="9715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CED0D56-80CA-5D41-D627-68D03430260F}"/>
              </a:ext>
            </a:extLst>
          </p:cNvPr>
          <p:cNvSpPr/>
          <p:nvPr/>
        </p:nvSpPr>
        <p:spPr>
          <a:xfrm>
            <a:off x="2502528" y="324491"/>
            <a:ext cx="4722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2500" dirty="0">
                <a:solidFill>
                  <a:schemeClr val="bg1">
                    <a:lumMod val="95000"/>
                  </a:schemeClr>
                </a:solidFill>
              </a:rPr>
              <a:t>Сборка всей этой мега игрушки</a:t>
            </a:r>
            <a:endParaRPr lang="en-US" sz="25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A21048F-E230-E909-3A50-AFBE0395AB5F}"/>
              </a:ext>
            </a:extLst>
          </p:cNvPr>
          <p:cNvSpPr/>
          <p:nvPr/>
        </p:nvSpPr>
        <p:spPr>
          <a:xfrm>
            <a:off x="611733" y="1579738"/>
            <a:ext cx="4832626" cy="721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F8F03EF-6C99-539F-2200-2F1C69AE5910}"/>
              </a:ext>
            </a:extLst>
          </p:cNvPr>
          <p:cNvSpPr/>
          <p:nvPr/>
        </p:nvSpPr>
        <p:spPr>
          <a:xfrm>
            <a:off x="4572001" y="2876646"/>
            <a:ext cx="1230288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endParaRPr 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11FC6A-4FD5-A6B6-8A97-293BB96B4B4A}"/>
              </a:ext>
            </a:extLst>
          </p:cNvPr>
          <p:cNvSpPr txBox="1"/>
          <p:nvPr/>
        </p:nvSpPr>
        <p:spPr>
          <a:xfrm>
            <a:off x="464587" y="1215654"/>
            <a:ext cx="40758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CFD0D8"/>
                </a:solidFill>
              </a:rPr>
              <a:t>• Находиться она на </a:t>
            </a:r>
            <a:r>
              <a:rPr lang="en-US" sz="1400" dirty="0" err="1">
                <a:solidFill>
                  <a:srgbClr val="CFD0D8"/>
                </a:solidFill>
              </a:rPr>
              <a:t>github</a:t>
            </a:r>
            <a:r>
              <a:rPr lang="en-US" sz="1400" dirty="0">
                <a:solidFill>
                  <a:srgbClr val="CFD0D8"/>
                </a:solidFill>
              </a:rPr>
              <a:t> “ </a:t>
            </a:r>
            <a:r>
              <a:rPr lang="en-US" sz="1400" dirty="0" err="1">
                <a:solidFill>
                  <a:srgbClr val="CFD0D8"/>
                </a:solidFill>
              </a:rPr>
              <a:t>yattttto</a:t>
            </a:r>
            <a:r>
              <a:rPr lang="en-US" sz="1400" dirty="0">
                <a:solidFill>
                  <a:srgbClr val="CFD0D8"/>
                </a:solidFill>
              </a:rPr>
              <a:t> “</a:t>
            </a:r>
            <a:endParaRPr lang="ru-RU" sz="1400" dirty="0">
              <a:solidFill>
                <a:srgbClr val="CFD0D8"/>
              </a:solidFill>
            </a:endParaRPr>
          </a:p>
          <a:p>
            <a:endParaRPr lang="ru-RU" sz="1400" dirty="0">
              <a:solidFill>
                <a:srgbClr val="CFD0D8"/>
              </a:solidFill>
            </a:endParaRPr>
          </a:p>
          <a:p>
            <a:r>
              <a:rPr lang="ru-RU" sz="1400" dirty="0">
                <a:solidFill>
                  <a:srgbClr val="CFD0D8"/>
                </a:solidFill>
              </a:rPr>
              <a:t>  найти её можно в ветке </a:t>
            </a:r>
            <a:r>
              <a:rPr lang="en-US" sz="1400" dirty="0">
                <a:solidFill>
                  <a:srgbClr val="CFD0D8"/>
                </a:solidFill>
              </a:rPr>
              <a:t>‘Game’</a:t>
            </a:r>
            <a:endParaRPr lang="ru-RU" sz="1400" dirty="0">
              <a:solidFill>
                <a:srgbClr val="CFD0D8"/>
              </a:solidFill>
            </a:endParaRPr>
          </a:p>
          <a:p>
            <a:r>
              <a:rPr lang="ru-RU" sz="1400" dirty="0">
                <a:solidFill>
                  <a:srgbClr val="CFD0D8"/>
                </a:solidFill>
              </a:rPr>
              <a:t> </a:t>
            </a:r>
          </a:p>
          <a:p>
            <a:endParaRPr lang="en-US" sz="1400" dirty="0">
              <a:solidFill>
                <a:srgbClr val="CFD0D8"/>
              </a:solidFill>
            </a:endParaRPr>
          </a:p>
          <a:p>
            <a:endParaRPr lang="ru-RU" sz="1400" dirty="0">
              <a:solidFill>
                <a:srgbClr val="CFD0D8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8B9F77E-5BDB-EA21-06C7-B9F720240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289" y="1301641"/>
            <a:ext cx="2540218" cy="254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78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E5F0DC5-AEE7-908D-678F-1B92F0471BD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CFD0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441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398</Words>
  <Application>Microsoft Office PowerPoint</Application>
  <PresentationFormat>Экран (16:9)</PresentationFormat>
  <Paragraphs>54</Paragraphs>
  <Slides>7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Instrument Sans SemiBold</vt:lpstr>
      <vt:lpstr>Arial</vt:lpstr>
      <vt:lpstr>Instrument Sans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ti me</cp:lastModifiedBy>
  <cp:revision>2</cp:revision>
  <dcterms:created xsi:type="dcterms:W3CDTF">2026-06-17T04:49:42Z</dcterms:created>
  <dcterms:modified xsi:type="dcterms:W3CDTF">2026-06-17T06:46:32Z</dcterms:modified>
</cp:coreProperties>
</file>