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DM Sans" panose="020B0604020202020204" charset="0"/>
      <p:regular r:id="rId15"/>
    </p:embeddedFont>
    <p:embeddedFont>
      <p:font typeface="DM Sans SemiBold" panose="020B0604020202020204" charset="0"/>
      <p:regular r:id="rId16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17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3902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4E0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4E0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4E0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4E0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4E0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4E0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4E0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4E0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ABC22B4-34FB-A8C6-E465-14740F57C44A}"/>
              </a:ext>
            </a:extLst>
          </p:cNvPr>
          <p:cNvSpPr/>
          <p:nvPr/>
        </p:nvSpPr>
        <p:spPr>
          <a:xfrm>
            <a:off x="-10411" y="0"/>
            <a:ext cx="12202411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 0"/>
          <p:cNvSpPr/>
          <p:nvPr/>
        </p:nvSpPr>
        <p:spPr>
          <a:xfrm>
            <a:off x="599465" y="626269"/>
            <a:ext cx="10992766" cy="697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7000"/>
              </a:lnSpc>
              <a:spcAft>
                <a:spcPts val="3400"/>
              </a:spcAft>
              <a:buNone/>
            </a:pP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9465" y="1653183"/>
            <a:ext cx="8482396" cy="3426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670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Магазин мармелада: маркетинговая стратегия</a:t>
            </a:r>
            <a:endParaRPr lang="en-US" sz="6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0415" y="5234980"/>
            <a:ext cx="8501445" cy="5605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8811" y="5254030"/>
            <a:ext cx="8273049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CDFE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Учебный проект по интернет-маркетингу. Целевая аудитория, KPI, дизайн, SEO и карта пути клиента для магазина мармелада «Мармеладный рай».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506109" y="1637705"/>
            <a:ext cx="2685586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9465" y="6125766"/>
            <a:ext cx="11592230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855B82CB-1365-DE28-21F7-42692A6F643E}"/>
              </a:ext>
            </a:extLst>
          </p:cNvPr>
          <p:cNvSpPr/>
          <p:nvPr/>
        </p:nvSpPr>
        <p:spPr>
          <a:xfrm>
            <a:off x="-10411" y="0"/>
            <a:ext cx="1220241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Shape 0"/>
          <p:cNvSpPr/>
          <p:nvPr/>
        </p:nvSpPr>
        <p:spPr>
          <a:xfrm>
            <a:off x="661475" y="922139"/>
            <a:ext cx="882330" cy="355203"/>
          </a:xfrm>
          <a:prstGeom prst="roundRect">
            <a:avLst>
              <a:gd name="adj" fmla="val 17880"/>
            </a:avLst>
          </a:prstGeom>
          <a:solidFill>
            <a:srgbClr val="DFE6EC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978793"/>
            <a:ext cx="1265107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РАЗДЕЛ 1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352947"/>
            <a:ext cx="8561868" cy="472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700" dirty="0">
                <a:solidFill>
                  <a:srgbClr val="16161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Исследование целевой аудитории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61475" y="2416076"/>
            <a:ext cx="4570199" cy="236240"/>
          </a:xfrm>
          <a:prstGeom prst="roundRect">
            <a:avLst>
              <a:gd name="adj" fmla="val 33605"/>
            </a:avLst>
          </a:prstGeom>
          <a:solidFill>
            <a:srgbClr val="DCDFE4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2416076"/>
            <a:ext cx="1919438" cy="236240"/>
          </a:xfrm>
          <a:prstGeom prst="roundRect">
            <a:avLst>
              <a:gd name="adj" fmla="val 33605"/>
            </a:avLst>
          </a:prstGeom>
          <a:solidFill>
            <a:srgbClr val="DCDFE4"/>
          </a:solidFill>
          <a:ln/>
        </p:spPr>
      </p:sp>
      <p:sp>
        <p:nvSpPr>
          <p:cNvPr id="7" name="Text 5"/>
          <p:cNvSpPr/>
          <p:nvPr/>
        </p:nvSpPr>
        <p:spPr>
          <a:xfrm>
            <a:off x="5373355" y="2416076"/>
            <a:ext cx="4919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50" dirty="0">
                <a:solidFill>
                  <a:srgbClr val="16161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42%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61475" y="2888456"/>
            <a:ext cx="477577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50" b="1" dirty="0">
                <a:solidFill>
                  <a:srgbClr val="16161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Дети (7–12 лет):</a:t>
            </a:r>
            <a:r>
              <a:rPr lang="en-US" sz="1850" dirty="0">
                <a:solidFill>
                  <a:srgbClr val="16161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покупают с родителями.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661475" y="3597176"/>
            <a:ext cx="4569703" cy="236240"/>
          </a:xfrm>
          <a:prstGeom prst="roundRect">
            <a:avLst>
              <a:gd name="adj" fmla="val 33605"/>
            </a:avLst>
          </a:prstGeom>
          <a:solidFill>
            <a:srgbClr val="CAD4E3">
              <a:alpha val="5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1475" y="3597176"/>
            <a:ext cx="1599366" cy="236240"/>
          </a:xfrm>
          <a:prstGeom prst="roundRect">
            <a:avLst>
              <a:gd name="adj" fmla="val 33605"/>
            </a:avLst>
          </a:prstGeom>
          <a:solidFill>
            <a:srgbClr val="CAD4E3"/>
          </a:solidFill>
          <a:ln/>
        </p:spPr>
      </p:sp>
      <p:sp>
        <p:nvSpPr>
          <p:cNvPr id="11" name="Text 9"/>
          <p:cNvSpPr/>
          <p:nvPr/>
        </p:nvSpPr>
        <p:spPr>
          <a:xfrm>
            <a:off x="5372859" y="3597176"/>
            <a:ext cx="49241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50" dirty="0">
                <a:solidFill>
                  <a:srgbClr val="16161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35%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661475" y="4069556"/>
            <a:ext cx="5203794" cy="47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50" b="1" dirty="0">
                <a:solidFill>
                  <a:srgbClr val="16161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Подростки (13–18):</a:t>
            </a:r>
            <a:r>
              <a:rPr lang="en-US" sz="1850" dirty="0">
                <a:solidFill>
                  <a:srgbClr val="16161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самостоятельные покупки.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661475" y="5014516"/>
            <a:ext cx="4581807" cy="236240"/>
          </a:xfrm>
          <a:prstGeom prst="roundRect">
            <a:avLst>
              <a:gd name="adj" fmla="val 33605"/>
            </a:avLst>
          </a:prstGeom>
          <a:solidFill>
            <a:schemeClr val="bg1"/>
          </a:solidFill>
          <a:ln/>
        </p:spPr>
      </p:sp>
      <p:sp>
        <p:nvSpPr>
          <p:cNvPr id="14" name="Shape 12"/>
          <p:cNvSpPr/>
          <p:nvPr/>
        </p:nvSpPr>
        <p:spPr>
          <a:xfrm>
            <a:off x="661475" y="5014516"/>
            <a:ext cx="1053776" cy="236240"/>
          </a:xfrm>
          <a:prstGeom prst="roundRect">
            <a:avLst>
              <a:gd name="adj" fmla="val 33605"/>
            </a:avLst>
          </a:prstGeom>
          <a:solidFill>
            <a:srgbClr val="B0C0D0"/>
          </a:solidFill>
          <a:ln/>
        </p:spPr>
      </p:sp>
      <p:sp>
        <p:nvSpPr>
          <p:cNvPr id="15" name="Text 13"/>
          <p:cNvSpPr/>
          <p:nvPr/>
        </p:nvSpPr>
        <p:spPr>
          <a:xfrm>
            <a:off x="5384963" y="5014516"/>
            <a:ext cx="480306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50" dirty="0">
                <a:solidFill>
                  <a:srgbClr val="16161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23%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661475" y="5486896"/>
            <a:ext cx="4850386" cy="236240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50" b="1" dirty="0">
                <a:solidFill>
                  <a:srgbClr val="16161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Взрослые (19–35):</a:t>
            </a:r>
            <a:r>
              <a:rPr lang="en-US" sz="1850" dirty="0">
                <a:solidFill>
                  <a:srgbClr val="16161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подарки и ностальгия.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6332776" y="2298005"/>
            <a:ext cx="305725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50" dirty="0">
                <a:solidFill>
                  <a:srgbClr val="16161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Метод сбора данных: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6332776" y="2723257"/>
            <a:ext cx="5203794" cy="967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Для исследования ЦА было опрошено 8 знакомых через Google Форму (4 вопроса). Также проведён просмотр групп ВКонтакте и Telegram-каналов по теме сладостей и подарков. Дополнительно проведены короткие интервью по 5 минут.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332776" y="3879850"/>
            <a:ext cx="360294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50" dirty="0">
                <a:solidFill>
                  <a:srgbClr val="16161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Ключевой вопрос опроса: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6332776" y="4305102"/>
            <a:ext cx="5203794" cy="967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«Что для вас важнее при выборе магазина мармелада — цена, ассортимент, упаковка или близость к дому?» Большинство респондентов выбрали ассортимент и упаковку как подарочный вариант.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81BF9F9B-926F-395D-36B8-EB9670BD32CE}"/>
              </a:ext>
            </a:extLst>
          </p:cNvPr>
          <p:cNvSpPr/>
          <p:nvPr/>
        </p:nvSpPr>
        <p:spPr>
          <a:xfrm>
            <a:off x="-10411" y="0"/>
            <a:ext cx="1220241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Shape 0"/>
          <p:cNvSpPr/>
          <p:nvPr/>
        </p:nvSpPr>
        <p:spPr>
          <a:xfrm>
            <a:off x="661475" y="1019770"/>
            <a:ext cx="1266694" cy="355203"/>
          </a:xfrm>
          <a:prstGeom prst="roundRect">
            <a:avLst>
              <a:gd name="adj" fmla="val 17880"/>
            </a:avLst>
          </a:prstGeom>
          <a:solidFill>
            <a:srgbClr val="DCDFE4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1076424"/>
            <a:ext cx="1649470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РАЗДЕЛ 1.2–1.3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450578"/>
            <a:ext cx="8661183" cy="472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700" dirty="0">
                <a:solidFill>
                  <a:srgbClr val="16161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Сегментация и портреты клиентов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206625"/>
            <a:ext cx="10868745" cy="483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На основе опросов и анализа групп ВКонтакте выделены два ключевых персонажа, отражающих основные сегменты покупателей магазина мармелада.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61475" y="2903041"/>
            <a:ext cx="3496877" cy="2935089"/>
          </a:xfrm>
          <a:prstGeom prst="roundRect">
            <a:avLst>
              <a:gd name="adj" fmla="val 2705"/>
            </a:avLst>
          </a:prstGeom>
          <a:solidFill>
            <a:srgbClr val="EAEBEE"/>
          </a:solidFill>
          <a:ln/>
        </p:spPr>
      </p:sp>
      <p:sp>
        <p:nvSpPr>
          <p:cNvPr id="7" name="Shape 5"/>
          <p:cNvSpPr/>
          <p:nvPr/>
        </p:nvSpPr>
        <p:spPr>
          <a:xfrm>
            <a:off x="850482" y="3092053"/>
            <a:ext cx="567021" cy="567035"/>
          </a:xfrm>
          <a:prstGeom prst="roundRect">
            <a:avLst>
              <a:gd name="adj" fmla="val 13436976"/>
            </a:avLst>
          </a:prstGeom>
          <a:solidFill>
            <a:srgbClr val="DCDFE4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6450" y="3248025"/>
            <a:ext cx="255085" cy="2550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50482" y="3848100"/>
            <a:ext cx="2708703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50" dirty="0">
                <a:solidFill>
                  <a:srgbClr val="16161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Персонаж 1: Катя, 16 лет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50482" y="4197747"/>
            <a:ext cx="3118863" cy="1451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Школьница, живёт рядом с магазином. Любит яркий мармелад на развес, покупает на карманные деньги (300–500 руб/мес). Узнаёт о новинках из TikTok и </a:t>
            </a:r>
            <a:r>
              <a:rPr lang="ru-RU" sz="1150" dirty="0" err="1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рилсах</a:t>
            </a:r>
            <a:r>
              <a:rPr lang="en-US" sz="115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Приходит с подругами после школы.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47359" y="2903041"/>
            <a:ext cx="3496877" cy="2935089"/>
          </a:xfrm>
          <a:prstGeom prst="roundRect">
            <a:avLst>
              <a:gd name="adj" fmla="val 2705"/>
            </a:avLst>
          </a:prstGeom>
          <a:solidFill>
            <a:srgbClr val="EAEBEE"/>
          </a:solidFill>
          <a:ln/>
        </p:spPr>
      </p:sp>
      <p:sp>
        <p:nvSpPr>
          <p:cNvPr id="12" name="Shape 9"/>
          <p:cNvSpPr/>
          <p:nvPr/>
        </p:nvSpPr>
        <p:spPr>
          <a:xfrm>
            <a:off x="4536366" y="3092053"/>
            <a:ext cx="567021" cy="567035"/>
          </a:xfrm>
          <a:prstGeom prst="roundRect">
            <a:avLst>
              <a:gd name="adj" fmla="val 13436976"/>
            </a:avLst>
          </a:prstGeom>
          <a:solidFill>
            <a:srgbClr val="CAD4E3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92334" y="3248025"/>
            <a:ext cx="255085" cy="2550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36366" y="3848100"/>
            <a:ext cx="3118863" cy="47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50" dirty="0">
                <a:solidFill>
                  <a:srgbClr val="16161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Персонаж 2: Марина, 28 лет</a:t>
            </a:r>
            <a:endParaRPr lang="en-US" sz="1850" dirty="0"/>
          </a:p>
        </p:txBody>
      </p:sp>
      <p:sp>
        <p:nvSpPr>
          <p:cNvPr id="15" name="Text 11"/>
          <p:cNvSpPr/>
          <p:nvPr/>
        </p:nvSpPr>
        <p:spPr>
          <a:xfrm>
            <a:off x="4536366" y="4433987"/>
            <a:ext cx="3118863" cy="12094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Офисный работник, покупает мармелад как подарок коллегам и детям. </a:t>
            </a:r>
            <a:r>
              <a:rPr lang="en-US" sz="1150" dirty="0" err="1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Бюджет</a:t>
            </a:r>
            <a:r>
              <a:rPr lang="en-US" sz="115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ru-RU" sz="115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r>
              <a:rPr lang="en-US" sz="115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500 –</a:t>
            </a:r>
            <a:r>
              <a:rPr lang="ru-RU" sz="115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r>
              <a:rPr lang="en-US" sz="115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000 руб. Ищет красивую упаковку и фирменные наборы. Находит магазин через Яндекс.Карты и отзывы на 2ГИС.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033244" y="2903041"/>
            <a:ext cx="3496877" cy="2935089"/>
          </a:xfrm>
          <a:prstGeom prst="roundRect">
            <a:avLst>
              <a:gd name="adj" fmla="val 2705"/>
            </a:avLst>
          </a:prstGeom>
          <a:solidFill>
            <a:srgbClr val="EAEBEE"/>
          </a:solidFill>
          <a:ln/>
        </p:spPr>
      </p:sp>
      <p:sp>
        <p:nvSpPr>
          <p:cNvPr id="17" name="Shape 13"/>
          <p:cNvSpPr/>
          <p:nvPr/>
        </p:nvSpPr>
        <p:spPr>
          <a:xfrm>
            <a:off x="8222251" y="3092053"/>
            <a:ext cx="567021" cy="567035"/>
          </a:xfrm>
          <a:prstGeom prst="roundRect">
            <a:avLst>
              <a:gd name="adj" fmla="val 13436976"/>
            </a:avLst>
          </a:prstGeom>
          <a:solidFill>
            <a:srgbClr val="B0C0D0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78219" y="3248025"/>
            <a:ext cx="255085" cy="25509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22251" y="3848100"/>
            <a:ext cx="3118863" cy="47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50" dirty="0">
                <a:solidFill>
                  <a:srgbClr val="16161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Персонаж 3: Алёша, 9 лет (с мамой)</a:t>
            </a:r>
            <a:endParaRPr lang="en-US" sz="1850" dirty="0"/>
          </a:p>
        </p:txBody>
      </p:sp>
      <p:sp>
        <p:nvSpPr>
          <p:cNvPr id="20" name="Text 15"/>
          <p:cNvSpPr/>
          <p:nvPr/>
        </p:nvSpPr>
        <p:spPr>
          <a:xfrm>
            <a:off x="8222251" y="4433987"/>
            <a:ext cx="3118863" cy="12094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Ребёнок, выбирает мармелад по форме и цвету. Решение о покупке принимает мама — обращает внимание на состав и цену. Реагирует на яркие витрины и акции «1+1».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EAAC8D9F-CC7C-7A49-ACE4-2BEECA977BC5}"/>
              </a:ext>
            </a:extLst>
          </p:cNvPr>
          <p:cNvSpPr/>
          <p:nvPr/>
        </p:nvSpPr>
        <p:spPr>
          <a:xfrm>
            <a:off x="-10411" y="0"/>
            <a:ext cx="1220241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Shape 0"/>
          <p:cNvSpPr/>
          <p:nvPr/>
        </p:nvSpPr>
        <p:spPr>
          <a:xfrm>
            <a:off x="661475" y="778768"/>
            <a:ext cx="1003969" cy="355203"/>
          </a:xfrm>
          <a:prstGeom prst="roundRect">
            <a:avLst>
              <a:gd name="adj" fmla="val 17880"/>
            </a:avLst>
          </a:prstGeom>
          <a:solidFill>
            <a:srgbClr val="DCDFE4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835422"/>
            <a:ext cx="1386746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РАЗДЕЛ 1.4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209576"/>
            <a:ext cx="7402823" cy="472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700" dirty="0">
                <a:solidFill>
                  <a:srgbClr val="16161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Боли клиентов и мотиваторы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1965623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Анализ интервью и опросов выявил ключевые барьеры и стимулы при выборе магазина мармелада. Устранение болей напрямую влияет на конверсию и лояльность.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2783086"/>
            <a:ext cx="10868745" cy="3296047"/>
          </a:xfrm>
          <a:prstGeom prst="roundRect">
            <a:avLst>
              <a:gd name="adj" fmla="val 2409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6832" y="2909193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😟</a:t>
            </a:r>
            <a:r>
              <a:rPr lang="en-US" sz="1450" b="1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Боли клиента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288029" y="2909193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✅</a:t>
            </a:r>
            <a:r>
              <a:rPr lang="en-US" sz="1450" b="1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Мотиваторы (решения)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56832" y="3457476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Не знают ассортимент заранее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288029" y="3457476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Каталог товаров в Telegram-канале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56832" y="4005759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Непонятна цена за 100 г на витрине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288029" y="4005759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Чёткие ценники с ценой за 100 г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56832" y="4554041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Нет красивой упаковки для подарка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288029" y="4554041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Фирменные коробки и крафт-пакеты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56832" y="5102324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Непонятно, есть ли акции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288029" y="5102324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Чат-бот в Telegram с актуальными акциями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56832" y="5650607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Нет информации о составе (аллергены)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288029" y="5650607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QR-код на ценнике → состав на сайте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75F3120D-D8B3-D509-4748-50F15965F6FA}"/>
              </a:ext>
            </a:extLst>
          </p:cNvPr>
          <p:cNvSpPr/>
          <p:nvPr/>
        </p:nvSpPr>
        <p:spPr>
          <a:xfrm>
            <a:off x="-10411" y="0"/>
            <a:ext cx="1220241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Shape 0"/>
          <p:cNvSpPr/>
          <p:nvPr/>
        </p:nvSpPr>
        <p:spPr>
          <a:xfrm>
            <a:off x="496081" y="460573"/>
            <a:ext cx="691934" cy="243681"/>
          </a:xfrm>
          <a:prstGeom prst="roundRect">
            <a:avLst>
              <a:gd name="adj" fmla="val 19547"/>
            </a:avLst>
          </a:prstGeom>
          <a:solidFill>
            <a:srgbClr val="DCDFE4"/>
          </a:solidFill>
          <a:ln/>
        </p:spPr>
      </p:sp>
      <p:sp>
        <p:nvSpPr>
          <p:cNvPr id="3" name="Text 1"/>
          <p:cNvSpPr/>
          <p:nvPr/>
        </p:nvSpPr>
        <p:spPr>
          <a:xfrm>
            <a:off x="581110" y="503039"/>
            <a:ext cx="1131462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РАЗДЕЛ 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081" y="746720"/>
            <a:ext cx="4677154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750" dirty="0">
                <a:solidFill>
                  <a:srgbClr val="16161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KPI по методике SMART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081" y="1143595"/>
            <a:ext cx="7593815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16161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Цель проекта: увеличить онлайн-продажи и узнаваемость магазина мармелада</a:t>
            </a:r>
            <a:endParaRPr lang="en-US" sz="13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081" y="1599803"/>
            <a:ext cx="6581313" cy="8506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2331" y="1918791"/>
            <a:ext cx="212620" cy="2126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1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188412" y="1760538"/>
            <a:ext cx="1772003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16161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Конкретная (S)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188412" y="2044005"/>
            <a:ext cx="572825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Увеличить число заказов через Telegram-бот магазина «Мармеладный рай»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081" y="2556669"/>
            <a:ext cx="6581313" cy="8506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2331" y="2875657"/>
            <a:ext cx="212620" cy="2126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2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1188412" y="2717403"/>
            <a:ext cx="1772003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16161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Измеримая (M)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188412" y="3000871"/>
            <a:ext cx="572825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 3 до 10 заказов в неделю через бот</a:t>
            </a:r>
            <a:endParaRPr lang="en-US" sz="11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081" y="3513534"/>
            <a:ext cx="6581313" cy="85060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2331" y="3832523"/>
            <a:ext cx="212620" cy="2126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3</a:t>
            </a:r>
            <a:endParaRPr lang="en-US" sz="1650" dirty="0"/>
          </a:p>
        </p:txBody>
      </p:sp>
      <p:sp>
        <p:nvSpPr>
          <p:cNvPr id="16" name="Text 11"/>
          <p:cNvSpPr/>
          <p:nvPr/>
        </p:nvSpPr>
        <p:spPr>
          <a:xfrm>
            <a:off x="1188412" y="3674269"/>
            <a:ext cx="1772003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16161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Достижимая (A)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1188412" y="3957737"/>
            <a:ext cx="572825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Настроить бота, запустить таргет в ВКонтакте на район</a:t>
            </a:r>
            <a:endParaRPr lang="en-US" sz="11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081" y="4470400"/>
            <a:ext cx="6581313" cy="85060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2331" y="4789388"/>
            <a:ext cx="212620" cy="2126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4</a:t>
            </a:r>
            <a:endParaRPr lang="en-US" sz="1650" dirty="0"/>
          </a:p>
        </p:txBody>
      </p:sp>
      <p:sp>
        <p:nvSpPr>
          <p:cNvPr id="20" name="Text 14"/>
          <p:cNvSpPr/>
          <p:nvPr/>
        </p:nvSpPr>
        <p:spPr>
          <a:xfrm>
            <a:off x="1188412" y="4631134"/>
            <a:ext cx="1772003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16161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Релевантная (R)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1188412" y="4914602"/>
            <a:ext cx="572825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Напрямую влияет на выручку и лояльность</a:t>
            </a:r>
            <a:endParaRPr lang="en-US" sz="11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081" y="5427266"/>
            <a:ext cx="6581313" cy="85060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92331" y="5746254"/>
            <a:ext cx="212620" cy="2126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5</a:t>
            </a:r>
            <a:endParaRPr lang="en-US" sz="1650" dirty="0"/>
          </a:p>
        </p:txBody>
      </p:sp>
      <p:sp>
        <p:nvSpPr>
          <p:cNvPr id="24" name="Text 17"/>
          <p:cNvSpPr/>
          <p:nvPr/>
        </p:nvSpPr>
        <p:spPr>
          <a:xfrm>
            <a:off x="1188412" y="5588000"/>
            <a:ext cx="1772003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16161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Ограничена (T)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1188412" y="5871468"/>
            <a:ext cx="572825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За 6 недель с момента запуска бота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7429612" y="2737148"/>
            <a:ext cx="4762083" cy="708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550" dirty="0">
                <a:solidFill>
                  <a:srgbClr val="16161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+233%</a:t>
            </a:r>
            <a:endParaRPr lang="en-US" sz="5550" dirty="0"/>
          </a:p>
        </p:txBody>
      </p:sp>
      <p:sp>
        <p:nvSpPr>
          <p:cNvPr id="27" name="Text 20"/>
          <p:cNvSpPr/>
          <p:nvPr/>
        </p:nvSpPr>
        <p:spPr>
          <a:xfrm>
            <a:off x="7429612" y="3552230"/>
            <a:ext cx="4762083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целевой рост числа заказов через бот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7429612" y="3905647"/>
            <a:ext cx="4272252" cy="10616"/>
          </a:xfrm>
          <a:prstGeom prst="rect">
            <a:avLst/>
          </a:prstGeom>
          <a:solidFill>
            <a:srgbClr val="161616">
              <a:alpha val="50000"/>
            </a:srgbClr>
          </a:solidFill>
          <a:ln/>
        </p:spPr>
      </p:sp>
      <p:sp>
        <p:nvSpPr>
          <p:cNvPr id="29" name="Shape 22"/>
          <p:cNvSpPr/>
          <p:nvPr/>
        </p:nvSpPr>
        <p:spPr>
          <a:xfrm>
            <a:off x="7429612" y="4071243"/>
            <a:ext cx="4272252" cy="1055886"/>
          </a:xfrm>
          <a:prstGeom prst="roundRect">
            <a:avLst>
              <a:gd name="adj" fmla="val 5639"/>
            </a:avLst>
          </a:prstGeom>
          <a:solidFill>
            <a:srgbClr val="B6FCB8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71293" y="4270375"/>
            <a:ext cx="177200" cy="14168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890174" y="4202311"/>
            <a:ext cx="3670010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Итоговый KPI: «Довести число еженедельных заказов через Telegram-бот с 3 до 10 за 6 недель путём запуска таргетированной рекламы ВКонтакте».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72B44185-947C-656F-18ED-22E09EE59BD3}"/>
              </a:ext>
            </a:extLst>
          </p:cNvPr>
          <p:cNvSpPr/>
          <p:nvPr/>
        </p:nvSpPr>
        <p:spPr>
          <a:xfrm>
            <a:off x="-10411" y="0"/>
            <a:ext cx="1220241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Shape 0"/>
          <p:cNvSpPr/>
          <p:nvPr/>
        </p:nvSpPr>
        <p:spPr>
          <a:xfrm>
            <a:off x="568509" y="611088"/>
            <a:ext cx="794524" cy="290711"/>
          </a:xfrm>
          <a:prstGeom prst="roundRect">
            <a:avLst>
              <a:gd name="adj" fmla="val 18774"/>
            </a:avLst>
          </a:prstGeom>
          <a:solidFill>
            <a:srgbClr val="DFE6EC"/>
          </a:solidFill>
          <a:ln/>
        </p:spPr>
      </p:sp>
      <p:sp>
        <p:nvSpPr>
          <p:cNvPr id="3" name="Text 1"/>
          <p:cNvSpPr/>
          <p:nvPr/>
        </p:nvSpPr>
        <p:spPr>
          <a:xfrm>
            <a:off x="665940" y="659805"/>
            <a:ext cx="1209248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РАЗДЕЛ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8509" y="957560"/>
            <a:ext cx="6453522" cy="406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150" dirty="0">
                <a:solidFill>
                  <a:srgbClr val="16161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Дизайн-концепция магазина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568509" y="1419423"/>
            <a:ext cx="4544204" cy="203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50" dirty="0">
                <a:solidFill>
                  <a:srgbClr val="16161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Фирменный стиль «Мармеладный рай»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68509" y="1988840"/>
            <a:ext cx="6474258" cy="4101108"/>
          </a:xfrm>
          <a:prstGeom prst="roundRect">
            <a:avLst>
              <a:gd name="adj" fmla="val 1664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7375" y="2085280"/>
            <a:ext cx="286616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b="1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Элемент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325134" y="2085280"/>
            <a:ext cx="4158451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b="1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Решение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7375" y="2513409"/>
            <a:ext cx="286616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Цвет 1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325134" y="2513409"/>
            <a:ext cx="4158451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Коралловый #FF6B6B — тепло, сладость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7375" y="2941538"/>
            <a:ext cx="286616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Цвет 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325134" y="2941538"/>
            <a:ext cx="3548867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Мятный #A8E6CF — свежесть, натуральность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7375" y="3611265"/>
            <a:ext cx="286616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Шрифт (заголовки)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325134" y="3611265"/>
            <a:ext cx="4158451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Nunito — округлый, дружелюбный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37375" y="4039394"/>
            <a:ext cx="286616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Шрифт (текст)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325134" y="4039394"/>
            <a:ext cx="4158451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Open Sans — чёткий, читаемый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37375" y="4467523"/>
            <a:ext cx="286616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Паттерн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325134" y="4467523"/>
            <a:ext cx="4158451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Разноцветные точки (имитация мармелада)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37375" y="4895652"/>
            <a:ext cx="286616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Пост ВКонтакте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325134" y="4895652"/>
            <a:ext cx="4158451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Фото товара + текст + кнопка «Заказать»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37375" y="5323780"/>
            <a:ext cx="286616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Кнопка на сайте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325134" y="5323780"/>
            <a:ext cx="4158451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Яркая, коралловая «Выбрать мармелад»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7375" y="5751909"/>
            <a:ext cx="286616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E-mail рассылка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325134" y="5751909"/>
            <a:ext cx="4158451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Логотип + оффер + кнопка «Перейти»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445387" y="3051076"/>
            <a:ext cx="4184049" cy="7311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Макет создан в </a:t>
            </a:r>
            <a:r>
              <a:rPr lang="ru-RU" sz="1250" b="1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ручную</a:t>
            </a:r>
            <a:r>
              <a:rPr lang="en-US" sz="125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Шаблон поста: яркое фото мармелада, короткий текст (до 80 символов), эмодзи </a:t>
            </a:r>
            <a:r>
              <a:rPr lang="en-US" sz="12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🍬</a:t>
            </a:r>
            <a:r>
              <a:rPr lang="en-US" sz="125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кнопка «Заказать».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445387" y="3939183"/>
            <a:ext cx="4184049" cy="1057176"/>
          </a:xfrm>
          <a:prstGeom prst="roundRect">
            <a:avLst>
              <a:gd name="adj" fmla="val 6453"/>
            </a:avLst>
          </a:prstGeom>
          <a:solidFill>
            <a:srgbClr val="CFD9E2"/>
          </a:solidFill>
          <a:ln/>
        </p:spPr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04" y="4171454"/>
            <a:ext cx="202996" cy="162421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7973218" y="4105374"/>
            <a:ext cx="3493802" cy="72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Все элементы дизайна выдержаны в едином стиле — от витрины магазина до Stories в Instagram и заголовков сайта.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E3C8CD0B-95E2-6215-3A91-51C91E1D3D05}"/>
              </a:ext>
            </a:extLst>
          </p:cNvPr>
          <p:cNvSpPr/>
          <p:nvPr/>
        </p:nvSpPr>
        <p:spPr>
          <a:xfrm>
            <a:off x="0" y="49511"/>
            <a:ext cx="1220241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Shape 0"/>
          <p:cNvSpPr/>
          <p:nvPr/>
        </p:nvSpPr>
        <p:spPr>
          <a:xfrm>
            <a:off x="516818" y="460276"/>
            <a:ext cx="724180" cy="256877"/>
          </a:xfrm>
          <a:prstGeom prst="roundRect">
            <a:avLst>
              <a:gd name="adj" fmla="val 19316"/>
            </a:avLst>
          </a:prstGeom>
          <a:solidFill>
            <a:srgbClr val="DCDFE4"/>
          </a:solidFill>
          <a:ln/>
        </p:spPr>
      </p:sp>
      <p:sp>
        <p:nvSpPr>
          <p:cNvPr id="3" name="Text 1"/>
          <p:cNvSpPr/>
          <p:nvPr/>
        </p:nvSpPr>
        <p:spPr>
          <a:xfrm>
            <a:off x="605418" y="504527"/>
            <a:ext cx="1156564" cy="16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РАЗДЕЛ 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16818" y="763290"/>
            <a:ext cx="5043659" cy="369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900" dirty="0">
                <a:solidFill>
                  <a:srgbClr val="16161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SEO-оптимизация сайта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16818" y="1305520"/>
            <a:ext cx="11674877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Семантическое ядро собрано через Яндекс.WordStat. Ниже — ключевые запросы, мета-теги и структура заголовков страницы магазина.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97768" y="1645642"/>
            <a:ext cx="3661279" cy="38100"/>
          </a:xfrm>
          <a:prstGeom prst="rect">
            <a:avLst/>
          </a:prstGeom>
          <a:solidFill>
            <a:srgbClr val="DCDFE4"/>
          </a:solidFill>
          <a:ln/>
        </p:spPr>
      </p:sp>
      <p:sp>
        <p:nvSpPr>
          <p:cNvPr id="7" name="Text 5"/>
          <p:cNvSpPr/>
          <p:nvPr/>
        </p:nvSpPr>
        <p:spPr>
          <a:xfrm>
            <a:off x="516818" y="1831380"/>
            <a:ext cx="3623180" cy="44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ru-RU" sz="1700" dirty="0">
                <a:solidFill>
                  <a:srgbClr val="16161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    </a:t>
            </a:r>
            <a:r>
              <a:rPr lang="en-US" sz="1700" dirty="0" err="1">
                <a:solidFill>
                  <a:srgbClr val="16161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ключевые</a:t>
            </a:r>
            <a:r>
              <a:rPr lang="en-US" sz="1700" dirty="0">
                <a:solidFill>
                  <a:srgbClr val="16161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запросы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38268" y="2404269"/>
            <a:ext cx="3401729" cy="3863578"/>
          </a:xfrm>
          <a:prstGeom prst="roundRect">
            <a:avLst>
              <a:gd name="adj" fmla="val 1823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4618" y="2410619"/>
            <a:ext cx="3389029" cy="57169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92351" y="2486124"/>
            <a:ext cx="1226611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b="1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Запрос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420579" y="2486124"/>
            <a:ext cx="376129" cy="420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b="1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Частота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098326" y="2486124"/>
            <a:ext cx="887688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b="1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Интент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44618" y="2982317"/>
            <a:ext cx="3389029" cy="78204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92351" y="3057823"/>
            <a:ext cx="1226611" cy="631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купить мармелад на развес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420579" y="3057823"/>
            <a:ext cx="376129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850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098326" y="3057823"/>
            <a:ext cx="887688" cy="420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Купить сразу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44618" y="3764359"/>
            <a:ext cx="3389029" cy="57169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92351" y="3839865"/>
            <a:ext cx="1226611" cy="420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магазин сладостей рядом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420579" y="3839865"/>
            <a:ext cx="376129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620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098326" y="3839865"/>
            <a:ext cx="887688" cy="420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Найти местно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44618" y="4336058"/>
            <a:ext cx="3389029" cy="57169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892351" y="4411563"/>
            <a:ext cx="1226611" cy="420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мармелад в подарок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420579" y="4411563"/>
            <a:ext cx="376129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430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098326" y="4411563"/>
            <a:ext cx="887688" cy="420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Выбрать набор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44618" y="4907756"/>
            <a:ext cx="3389029" cy="78204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892351" y="4983262"/>
            <a:ext cx="1226611" cy="631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натуральный мармелад без красителей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420579" y="4983262"/>
            <a:ext cx="376129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210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098326" y="4983262"/>
            <a:ext cx="887688" cy="420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Здоровье/состав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44618" y="5689798"/>
            <a:ext cx="3389029" cy="57169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892351" y="5765304"/>
            <a:ext cx="1226611" cy="420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мармелад оптом недорого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2420579" y="5765304"/>
            <a:ext cx="376129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180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098326" y="5765304"/>
            <a:ext cx="887688" cy="420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Оптовый заказ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265109" y="1645642"/>
            <a:ext cx="3661378" cy="38100"/>
          </a:xfrm>
          <a:prstGeom prst="rect">
            <a:avLst/>
          </a:prstGeom>
          <a:solidFill>
            <a:srgbClr val="CAD4E3"/>
          </a:solidFill>
          <a:ln/>
        </p:spPr>
      </p:sp>
      <p:sp>
        <p:nvSpPr>
          <p:cNvPr id="34" name="Text 32"/>
          <p:cNvSpPr/>
          <p:nvPr/>
        </p:nvSpPr>
        <p:spPr>
          <a:xfrm>
            <a:off x="4284158" y="1831380"/>
            <a:ext cx="3465525" cy="221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6161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Структура заголовков страницы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4284158" y="2122091"/>
            <a:ext cx="3623279" cy="1962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b="1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H1:</a:t>
            </a:r>
            <a:r>
              <a:rPr lang="en-US" sz="115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Магазин мармелада «Мармеладный рай»</a:t>
            </a:r>
            <a:endParaRPr lang="en-US" sz="115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1150" b="1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H2:</a:t>
            </a:r>
            <a:r>
              <a:rPr lang="en-US" sz="115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Каталог и цены на мармелад</a:t>
            </a:r>
            <a:endParaRPr lang="en-US" sz="115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1150" b="1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H3:</a:t>
            </a:r>
            <a:r>
              <a:rPr lang="en-US" sz="115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Акции и подарочные наборы</a:t>
            </a:r>
            <a:endParaRPr lang="en-US" sz="115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1150" b="1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Title:</a:t>
            </a:r>
            <a:r>
              <a:rPr lang="en-US" sz="115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«Мармелад на развес — Магазин Мармеладный рай, акции»</a:t>
            </a:r>
            <a:endParaRPr lang="en-US" sz="115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1150" b="1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Description:</a:t>
            </a:r>
            <a:r>
              <a:rPr lang="en-US" sz="115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«Мармелад на развес и в подарок. Скидка 10% при первом заказе»</a:t>
            </a:r>
            <a:endParaRPr lang="en-US" sz="115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1150" b="1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Alt:</a:t>
            </a:r>
            <a:r>
              <a:rPr lang="en-US" sz="115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«ассорти мармелада на развес в магазине Мармеладный рай»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032549" y="1645642"/>
            <a:ext cx="3661378" cy="38100"/>
          </a:xfrm>
          <a:prstGeom prst="rect">
            <a:avLst/>
          </a:prstGeom>
          <a:solidFill>
            <a:srgbClr val="B0C0D0"/>
          </a:solidFill>
          <a:ln/>
        </p:spPr>
      </p:sp>
      <p:sp>
        <p:nvSpPr>
          <p:cNvPr id="37" name="Text 35"/>
          <p:cNvSpPr/>
          <p:nvPr/>
        </p:nvSpPr>
        <p:spPr>
          <a:xfrm>
            <a:off x="8051599" y="1831380"/>
            <a:ext cx="3455603" cy="221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6161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Off-page SEO: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8051599" y="2122091"/>
            <a:ext cx="3623279" cy="1262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Пример отзыва (в стиле реального покупателя):</a:t>
            </a:r>
            <a:endParaRPr lang="en-US" sz="115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«Зашла случайно, теперь хожу каждую неделю </a:t>
            </a:r>
            <a:r>
              <a:rPr lang="en-US" sz="11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🍬</a:t>
            </a:r>
            <a:r>
              <a:rPr lang="en-US" sz="1150" dirty="0">
                <a:solidFill>
                  <a:srgbClr val="1616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Огромный выбор мармелада на развес, есть без сахара. Взяла подарочный набор маме — очень красивая упаковка! Цены адекватные, персонал отзывчивый. Рекомендую всем!»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26366" y="490637"/>
            <a:ext cx="738963" cy="263525"/>
          </a:xfrm>
          <a:prstGeom prst="roundRect">
            <a:avLst>
              <a:gd name="adj" fmla="val 19205"/>
            </a:avLst>
          </a:prstGeom>
          <a:solidFill>
            <a:srgbClr val="1D2630"/>
          </a:solidFill>
          <a:ln/>
        </p:spPr>
      </p:sp>
      <p:sp>
        <p:nvSpPr>
          <p:cNvPr id="10" name="Text 8"/>
          <p:cNvSpPr/>
          <p:nvPr/>
        </p:nvSpPr>
        <p:spPr>
          <a:xfrm>
            <a:off x="9587070" y="1443236"/>
            <a:ext cx="2530114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Контактная точка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587070" y="1822648"/>
            <a:ext cx="2530114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TikTok / Stories ВКонтакте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587070" y="2635052"/>
            <a:ext cx="2530114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Instagram / ВКонтакте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587070" y="3230959"/>
            <a:ext cx="2530114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Яндекс.Карты / 2ГИС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587070" y="4043363"/>
            <a:ext cx="2530114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Telegram-бот / QR-код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587070" y="4639270"/>
            <a:ext cx="2530114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SMS / Push / Реферал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27136" y="5508327"/>
            <a:ext cx="11137423" cy="724098"/>
          </a:xfrm>
          <a:prstGeom prst="roundRect">
            <a:avLst>
              <a:gd name="adj" fmla="val 8737"/>
            </a:avLst>
          </a:prstGeom>
          <a:solidFill>
            <a:srgbClr val="183A13"/>
          </a:solidFill>
          <a:ln/>
        </p:spPr>
      </p:sp>
      <p:pic>
        <p:nvPicPr>
          <p:cNvPr id="3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746" y="5710734"/>
            <a:ext cx="188213" cy="150614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1016570" y="5653881"/>
            <a:ext cx="10497379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улучшения по итогам CJM: 1) Добавить меню и цены в шапку профиля ВКонтакте. 2) Сделать кнопку «Заказать за 1 клик» в Telegram-боте. 3) Настроить SMS-напоминание об акциях постоянным покупателям.</a:t>
            </a:r>
            <a:endParaRPr lang="en-US" sz="1150" dirty="0"/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2C623FAE-8673-4866-2196-1DC67C306DAF}"/>
              </a:ext>
            </a:extLst>
          </p:cNvPr>
          <p:cNvSpPr/>
          <p:nvPr/>
        </p:nvSpPr>
        <p:spPr>
          <a:xfrm>
            <a:off x="-10411" y="0"/>
            <a:ext cx="12202411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5816653" y="535781"/>
            <a:ext cx="1167974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РАЗДЕЛ 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986012" y="802084"/>
            <a:ext cx="8219572" cy="376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Карта пути клиента (CJM) — модель AIDA</a:t>
            </a:r>
            <a:endParaRPr lang="en-US" sz="2950" dirty="0"/>
          </a:p>
        </p:txBody>
      </p:sp>
      <p:sp>
        <p:nvSpPr>
          <p:cNvPr id="5" name="Shape 3"/>
          <p:cNvSpPr/>
          <p:nvPr/>
        </p:nvSpPr>
        <p:spPr>
          <a:xfrm>
            <a:off x="527136" y="1358602"/>
            <a:ext cx="11137423" cy="4014788"/>
          </a:xfrm>
          <a:prstGeom prst="roundRect">
            <a:avLst>
              <a:gd name="adj" fmla="val 1576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4295" y="1443236"/>
            <a:ext cx="230757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Этап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689852" y="1443236"/>
            <a:ext cx="2526939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Действие клиента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914777" y="1443236"/>
            <a:ext cx="274938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Действие компании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62145" y="1443236"/>
            <a:ext cx="2526939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Эмоция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84295" y="1822648"/>
            <a:ext cx="230757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Awareness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89852" y="1822648"/>
            <a:ext cx="1917354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Увидел пост с мармеладом в TikTok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914777" y="1822648"/>
            <a:ext cx="2139797" cy="649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Публикует видео «Угадай вкус мармелада» с геометкой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62145" y="1822648"/>
            <a:ext cx="2526939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😐</a:t>
            </a:r>
            <a:r>
              <a:rPr lang="en-US" sz="11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Интерес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84295" y="2635052"/>
            <a:ext cx="230757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Interest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689852" y="2635052"/>
            <a:ext cx="1917354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Переходит в профиль, смотрит ассортимент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914777" y="2635052"/>
            <a:ext cx="2139797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Актуальные «Меню» и «Цены» в шапке профиля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362145" y="2635052"/>
            <a:ext cx="2526939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😊</a:t>
            </a:r>
            <a:r>
              <a:rPr lang="en-US" sz="11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Любопытство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84295" y="3230959"/>
            <a:ext cx="230757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Desire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689852" y="3230959"/>
            <a:ext cx="1917354" cy="649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Сравнивает с другими магазинами, ищет отзывы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914777" y="3230959"/>
            <a:ext cx="2139797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Показывает отзывы, фото интерьера, состав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362145" y="3230959"/>
            <a:ext cx="2526939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🤔</a:t>
            </a:r>
            <a:r>
              <a:rPr lang="en-US" sz="11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Сомнение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84295" y="4043363"/>
            <a:ext cx="230757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Action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689852" y="4043363"/>
            <a:ext cx="1917354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Приходит по карте или пишет в Telegram-бот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914777" y="4043363"/>
            <a:ext cx="2139797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Навигация в профиле, чат-бот с адресом и акциями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362145" y="4043363"/>
            <a:ext cx="2526939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😊</a:t>
            </a:r>
            <a:r>
              <a:rPr lang="en-US" sz="11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Решимость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84295" y="4639270"/>
            <a:ext cx="230757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Loyalty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689852" y="4639270"/>
            <a:ext cx="1917354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Покупает снова, рекомендует друзьям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914777" y="4639270"/>
            <a:ext cx="2139797" cy="649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Накопительная карта, SMS «Ваш любимый мармелад ждёт»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362145" y="4639270"/>
            <a:ext cx="2526939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😍</a:t>
            </a:r>
            <a:r>
              <a:rPr lang="en-US" sz="11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Лояльность</a:t>
            </a:r>
            <a:endParaRPr lang="en-US" sz="1150" dirty="0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9C45E787-483F-DEB9-C208-9CB5AC72411A}"/>
              </a:ext>
            </a:extLst>
          </p:cNvPr>
          <p:cNvSpPr/>
          <p:nvPr/>
        </p:nvSpPr>
        <p:spPr>
          <a:xfrm>
            <a:off x="9502148" y="1443236"/>
            <a:ext cx="2530114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Контактная точка</a:t>
            </a:r>
            <a:endParaRPr lang="en-US" sz="1150" dirty="0"/>
          </a:p>
        </p:txBody>
      </p:sp>
      <p:sp>
        <p:nvSpPr>
          <p:cNvPr id="41" name="Text 13">
            <a:extLst>
              <a:ext uri="{FF2B5EF4-FFF2-40B4-BE49-F238E27FC236}">
                <a16:creationId xmlns:a16="http://schemas.microsoft.com/office/drawing/2014/main" id="{88005FE9-BD3C-BAEC-202C-7738F1945159}"/>
              </a:ext>
            </a:extLst>
          </p:cNvPr>
          <p:cNvSpPr/>
          <p:nvPr/>
        </p:nvSpPr>
        <p:spPr>
          <a:xfrm>
            <a:off x="9502148" y="1822648"/>
            <a:ext cx="2530114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TikTok / Stories ВКонтакте</a:t>
            </a:r>
            <a:endParaRPr lang="en-US" sz="1150" dirty="0"/>
          </a:p>
        </p:txBody>
      </p:sp>
      <p:sp>
        <p:nvSpPr>
          <p:cNvPr id="42" name="Text 18">
            <a:extLst>
              <a:ext uri="{FF2B5EF4-FFF2-40B4-BE49-F238E27FC236}">
                <a16:creationId xmlns:a16="http://schemas.microsoft.com/office/drawing/2014/main" id="{C44A224F-6D7F-FB49-27CD-6912D5651010}"/>
              </a:ext>
            </a:extLst>
          </p:cNvPr>
          <p:cNvSpPr/>
          <p:nvPr/>
        </p:nvSpPr>
        <p:spPr>
          <a:xfrm>
            <a:off x="9502148" y="2635052"/>
            <a:ext cx="2530114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Instagram / ВКонтакте</a:t>
            </a:r>
            <a:endParaRPr lang="en-US" sz="1150" dirty="0"/>
          </a:p>
        </p:txBody>
      </p:sp>
      <p:sp>
        <p:nvSpPr>
          <p:cNvPr id="43" name="Text 23">
            <a:extLst>
              <a:ext uri="{FF2B5EF4-FFF2-40B4-BE49-F238E27FC236}">
                <a16:creationId xmlns:a16="http://schemas.microsoft.com/office/drawing/2014/main" id="{B1DAEF27-3001-11EE-9838-0E53F0289EFE}"/>
              </a:ext>
            </a:extLst>
          </p:cNvPr>
          <p:cNvSpPr/>
          <p:nvPr/>
        </p:nvSpPr>
        <p:spPr>
          <a:xfrm>
            <a:off x="9502148" y="3230959"/>
            <a:ext cx="2530114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Яндекс.Карты / 2ГИС</a:t>
            </a:r>
            <a:endParaRPr lang="en-US" sz="1150" dirty="0"/>
          </a:p>
        </p:txBody>
      </p:sp>
      <p:sp>
        <p:nvSpPr>
          <p:cNvPr id="44" name="Text 28">
            <a:extLst>
              <a:ext uri="{FF2B5EF4-FFF2-40B4-BE49-F238E27FC236}">
                <a16:creationId xmlns:a16="http://schemas.microsoft.com/office/drawing/2014/main" id="{5610B711-6A73-E81B-EA5F-537EB3997E05}"/>
              </a:ext>
            </a:extLst>
          </p:cNvPr>
          <p:cNvSpPr/>
          <p:nvPr/>
        </p:nvSpPr>
        <p:spPr>
          <a:xfrm>
            <a:off x="9502148" y="4043363"/>
            <a:ext cx="2530114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Telegram-бот / QR-код</a:t>
            </a:r>
            <a:endParaRPr lang="en-US" sz="1150" dirty="0"/>
          </a:p>
        </p:txBody>
      </p:sp>
      <p:sp>
        <p:nvSpPr>
          <p:cNvPr id="45" name="Text 33">
            <a:extLst>
              <a:ext uri="{FF2B5EF4-FFF2-40B4-BE49-F238E27FC236}">
                <a16:creationId xmlns:a16="http://schemas.microsoft.com/office/drawing/2014/main" id="{4EFF70B9-A166-651A-9591-5ADF7FC4B73E}"/>
              </a:ext>
            </a:extLst>
          </p:cNvPr>
          <p:cNvSpPr/>
          <p:nvPr/>
        </p:nvSpPr>
        <p:spPr>
          <a:xfrm>
            <a:off x="9502148" y="4639270"/>
            <a:ext cx="2530114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SMS / Push / Реферал</a:t>
            </a:r>
            <a:endParaRPr lang="en-US" sz="1150" dirty="0"/>
          </a:p>
        </p:txBody>
      </p:sp>
      <p:sp>
        <p:nvSpPr>
          <p:cNvPr id="46" name="Shape 34">
            <a:extLst>
              <a:ext uri="{FF2B5EF4-FFF2-40B4-BE49-F238E27FC236}">
                <a16:creationId xmlns:a16="http://schemas.microsoft.com/office/drawing/2014/main" id="{4679CE80-CAD8-F594-952A-3565748D9E91}"/>
              </a:ext>
            </a:extLst>
          </p:cNvPr>
          <p:cNvSpPr/>
          <p:nvPr/>
        </p:nvSpPr>
        <p:spPr>
          <a:xfrm>
            <a:off x="442214" y="5508327"/>
            <a:ext cx="11137423" cy="724098"/>
          </a:xfrm>
          <a:prstGeom prst="roundRect">
            <a:avLst>
              <a:gd name="adj" fmla="val 8737"/>
            </a:avLst>
          </a:prstGeom>
          <a:solidFill>
            <a:srgbClr val="183A13"/>
          </a:solidFill>
          <a:ln/>
        </p:spPr>
      </p:sp>
      <p:sp>
        <p:nvSpPr>
          <p:cNvPr id="47" name="Text 35">
            <a:extLst>
              <a:ext uri="{FF2B5EF4-FFF2-40B4-BE49-F238E27FC236}">
                <a16:creationId xmlns:a16="http://schemas.microsoft.com/office/drawing/2014/main" id="{0ACF3C66-EBF9-3C37-4F49-9EF002AA457F}"/>
              </a:ext>
            </a:extLst>
          </p:cNvPr>
          <p:cNvSpPr/>
          <p:nvPr/>
        </p:nvSpPr>
        <p:spPr>
          <a:xfrm>
            <a:off x="931648" y="5653881"/>
            <a:ext cx="10497379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улучшения по итогам CJM: 1) Добавить меню и цены в шапку профиля ВКонтакте. 2) Сделать кнопку «Заказать за 1 клик» в Telegram-боте. 3) Настроить SMS-напоминание об акциях постоянным покупателям.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1046</Words>
  <Application>Microsoft Office PowerPoint</Application>
  <PresentationFormat>Широкоэкранный</PresentationFormat>
  <Paragraphs>162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Calibri</vt:lpstr>
      <vt:lpstr>Arial</vt:lpstr>
      <vt:lpstr>DM Sans</vt:lpstr>
      <vt:lpstr>DM Sans SemiBold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Student08</cp:lastModifiedBy>
  <cp:revision>7</cp:revision>
  <dcterms:created xsi:type="dcterms:W3CDTF">2026-06-08T16:17:43Z</dcterms:created>
  <dcterms:modified xsi:type="dcterms:W3CDTF">2026-06-09T08:42:58Z</dcterms:modified>
</cp:coreProperties>
</file>