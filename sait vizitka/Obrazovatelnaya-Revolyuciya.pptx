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6" r:id="rId3"/>
    <p:sldId id="258" r:id="rId4"/>
    <p:sldId id="260" r:id="rId5"/>
    <p:sldId id="261" r:id="rId6"/>
    <p:sldId id="262" r:id="rId7"/>
    <p:sldId id="263" r:id="rId8"/>
    <p:sldId id="265" r:id="rId9"/>
  </p:sldIdLst>
  <p:sldSz cx="14630400" cy="8229600"/>
  <p:notesSz cx="8229600" cy="14630400"/>
  <p:embeddedFontLst>
    <p:embeddedFont>
      <p:font typeface="Montserrat Bold" panose="020B0604020202020204" charset="-52"/>
      <p:bold r:id="rId11"/>
    </p:embeddedFont>
    <p:embeddedFont>
      <p:font typeface="Source Sans 3" panose="020B0604020202020204" charset="0"/>
      <p:regular r:id="rId1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1290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7A88D-BF83-F686-7300-E8E6585DF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CAF449-9EEB-B65C-2D43-8BF2ACF637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BD648A-3D3B-E79E-FFDB-DC70B98132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A2110-D069-6CC0-6CF6-81399D758A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00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9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63798" y="2342078"/>
            <a:ext cx="7416403" cy="2805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Образовательная Революция: Сравнение Планов Ленина и Сталина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63798" y="5517356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endParaRPr lang="en-US" sz="19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204CA0D-4160-4F01-C5B3-B3C5B68C1917}"/>
              </a:ext>
            </a:extLst>
          </p:cNvPr>
          <p:cNvSpPr/>
          <p:nvPr/>
        </p:nvSpPr>
        <p:spPr>
          <a:xfrm>
            <a:off x="12812233" y="7676707"/>
            <a:ext cx="1722474" cy="44656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2510DFF-E5F8-954D-22A0-1C0EFD337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8560" y="1777520"/>
            <a:ext cx="5312118" cy="34954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4035B-71B7-63D7-FD0F-052CF1B05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2B472A1-D56C-EEB8-9564-75DB3ECE1440}"/>
              </a:ext>
            </a:extLst>
          </p:cNvPr>
          <p:cNvSpPr/>
          <p:nvPr/>
        </p:nvSpPr>
        <p:spPr>
          <a:xfrm>
            <a:off x="863798" y="-3262309"/>
            <a:ext cx="7416403" cy="2805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Образовательная Революция: Сравнение Планов Ленина и Сталина</a:t>
            </a:r>
            <a:endParaRPr lang="en-US" sz="4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4A5FB94-865C-6B3A-DF6C-C028A879DE0C}"/>
              </a:ext>
            </a:extLst>
          </p:cNvPr>
          <p:cNvSpPr/>
          <p:nvPr/>
        </p:nvSpPr>
        <p:spPr>
          <a:xfrm>
            <a:off x="863798" y="5517356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endParaRPr lang="en-US" sz="19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49E8CC7-AC98-665C-54D0-F0D43BD07CE5}"/>
              </a:ext>
            </a:extLst>
          </p:cNvPr>
          <p:cNvSpPr/>
          <p:nvPr/>
        </p:nvSpPr>
        <p:spPr>
          <a:xfrm>
            <a:off x="12812233" y="7676707"/>
            <a:ext cx="1722474" cy="44656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6E5D34E-10DC-2AAB-B96D-644CC7332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8560" y="-3826867"/>
            <a:ext cx="5312118" cy="34954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BD13EE-2251-B8E9-AEE5-90CEDA362C0A}"/>
              </a:ext>
            </a:extLst>
          </p:cNvPr>
          <p:cNvSpPr txBox="1"/>
          <p:nvPr/>
        </p:nvSpPr>
        <p:spPr>
          <a:xfrm>
            <a:off x="1295400" y="497866"/>
            <a:ext cx="9601200" cy="1707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150"/>
              </a:lnSpc>
            </a:pPr>
            <a:r>
              <a:rPr lang="en-US" sz="3600" b="1" dirty="0" err="1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Концепция</a:t>
            </a:r>
            <a:r>
              <a:rPr lang="en-US" sz="3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Ленина</a:t>
            </a:r>
            <a:r>
              <a:rPr lang="en-US" sz="3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: </a:t>
            </a:r>
            <a:r>
              <a:rPr lang="en-US" sz="3600" b="1" dirty="0" err="1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Единая</a:t>
            </a:r>
            <a:r>
              <a:rPr lang="en-US" sz="3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Трудовая</a:t>
            </a:r>
            <a:r>
              <a:rPr lang="en-US" sz="3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Политехническая</a:t>
            </a:r>
            <a:r>
              <a:rPr lang="en-US" sz="3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Школа</a:t>
            </a:r>
            <a:endParaRPr lang="en-US" sz="3600" dirty="0"/>
          </a:p>
          <a:p>
            <a:pPr marL="0" indent="0" algn="l">
              <a:lnSpc>
                <a:spcPts val="4150"/>
              </a:lnSpc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016978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2822" y="816412"/>
            <a:ext cx="13284756" cy="1092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Концепция Ленина: Единая Трудовая Политехническая Школа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72822" y="2293144"/>
            <a:ext cx="13284756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Владимир Ильич Ленин и нарком просвещения Анатолий Луначарский заложили основы революционной педагогики, направленной на </a:t>
            </a:r>
            <a:r>
              <a:rPr lang="en-US" sz="15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всестороннее развитие</a:t>
            </a: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личности, объединение теории и практики, и полное </a:t>
            </a:r>
            <a:r>
              <a:rPr lang="en-US" sz="15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отсутствие сословных различий</a:t>
            </a: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в обучении.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855" y="3308271"/>
            <a:ext cx="288250" cy="2882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7424" y="3302318"/>
            <a:ext cx="3542347" cy="27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Доступность и Единообразие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297424" y="3767495"/>
            <a:ext cx="5783342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Бесплатное и обязательное образование для всех граждан, независимо от пола, национальности и социального положения.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855" y="4734639"/>
            <a:ext cx="288250" cy="2882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7424" y="4728686"/>
            <a:ext cx="3615214" cy="27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Связь с Трудом (Политехника)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297424" y="5193863"/>
            <a:ext cx="5783342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Соединение обучения с производительным трудом. Школа как центр культуры и производства, а не только книжных знаний.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855" y="6161008"/>
            <a:ext cx="288250" cy="2882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7424" y="6155055"/>
            <a:ext cx="2302907" cy="27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Акцент на Свободе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1297424" y="6620232"/>
            <a:ext cx="5783342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Эксперименты с методами обучения (например, Дальтон-план), отмена традиционных оценок, экзаменов, и строгой дисциплины.</a:t>
            </a:r>
            <a:endParaRPr lang="en-US" sz="150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7DF6773-9434-5998-DCF4-88081577780F}"/>
              </a:ext>
            </a:extLst>
          </p:cNvPr>
          <p:cNvSpPr/>
          <p:nvPr/>
        </p:nvSpPr>
        <p:spPr>
          <a:xfrm>
            <a:off x="12674009" y="7581014"/>
            <a:ext cx="1828800" cy="57673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138743" y="666274"/>
            <a:ext cx="7839313" cy="105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Переход к Плану Сталина: Централизация и Прагматизм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6138743" y="2004774"/>
            <a:ext cx="7839313" cy="838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 началу 1930-х годов в СССР назрела необходимость в квалифицированных кадрах для ускоренной индустриализации. Это требовало резкого отказа от педагогических экспериментов 1920-х и перехода к строгой, стандартизированной системе.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138743" y="3332321"/>
            <a:ext cx="3826431" cy="2154555"/>
          </a:xfrm>
          <a:prstGeom prst="roundRect">
            <a:avLst>
              <a:gd name="adj" fmla="val 5093"/>
            </a:avLst>
          </a:prstGeom>
          <a:solidFill>
            <a:srgbClr val="11121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3"/>
          <p:cNvSpPr/>
          <p:nvPr/>
        </p:nvSpPr>
        <p:spPr>
          <a:xfrm>
            <a:off x="6138743" y="3309461"/>
            <a:ext cx="3826431" cy="91440"/>
          </a:xfrm>
          <a:prstGeom prst="roundRect">
            <a:avLst>
              <a:gd name="adj" fmla="val 3057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4"/>
          <p:cNvSpPr/>
          <p:nvPr/>
        </p:nvSpPr>
        <p:spPr>
          <a:xfrm>
            <a:off x="7772400" y="3052763"/>
            <a:ext cx="559118" cy="559118"/>
          </a:xfrm>
          <a:prstGeom prst="roundRect">
            <a:avLst>
              <a:gd name="adj" fmla="val 16354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40159" y="3220522"/>
            <a:ext cx="223599" cy="22359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47936" y="3798213"/>
            <a:ext cx="3408045" cy="52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Требование Индустриализации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6347936" y="4439364"/>
            <a:ext cx="3408045" cy="838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Пятилетние планы нуждались в инженерах, техниках и грамотных рабочих, а не в теоретиках.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10151507" y="3332321"/>
            <a:ext cx="3826550" cy="2154555"/>
          </a:xfrm>
          <a:prstGeom prst="roundRect">
            <a:avLst>
              <a:gd name="adj" fmla="val 5093"/>
            </a:avLst>
          </a:prstGeom>
          <a:solidFill>
            <a:srgbClr val="11121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Shape 8"/>
          <p:cNvSpPr/>
          <p:nvPr/>
        </p:nvSpPr>
        <p:spPr>
          <a:xfrm>
            <a:off x="10151507" y="3309461"/>
            <a:ext cx="3826550" cy="91440"/>
          </a:xfrm>
          <a:prstGeom prst="roundRect">
            <a:avLst>
              <a:gd name="adj" fmla="val 3057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Shape 9"/>
          <p:cNvSpPr/>
          <p:nvPr/>
        </p:nvSpPr>
        <p:spPr>
          <a:xfrm>
            <a:off x="11785163" y="3052763"/>
            <a:ext cx="559118" cy="559118"/>
          </a:xfrm>
          <a:prstGeom prst="roundRect">
            <a:avLst>
              <a:gd name="adj" fmla="val 16354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952923" y="3220522"/>
            <a:ext cx="223599" cy="22359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360700" y="3798213"/>
            <a:ext cx="2996208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Укрепление Дисциплины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10360700" y="4174688"/>
            <a:ext cx="3408164" cy="838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 школах была восстановлена строгая дисциплина, оценки, единые учебники и обязательные экзамены.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6138743" y="5952768"/>
            <a:ext cx="7839313" cy="1610439"/>
          </a:xfrm>
          <a:prstGeom prst="roundRect">
            <a:avLst>
              <a:gd name="adj" fmla="val 6814"/>
            </a:avLst>
          </a:prstGeom>
          <a:solidFill>
            <a:srgbClr val="11121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Shape 13"/>
          <p:cNvSpPr/>
          <p:nvPr/>
        </p:nvSpPr>
        <p:spPr>
          <a:xfrm>
            <a:off x="6138743" y="5929908"/>
            <a:ext cx="7839313" cy="91440"/>
          </a:xfrm>
          <a:prstGeom prst="roundRect">
            <a:avLst>
              <a:gd name="adj" fmla="val 3057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Shape 14"/>
          <p:cNvSpPr/>
          <p:nvPr/>
        </p:nvSpPr>
        <p:spPr>
          <a:xfrm>
            <a:off x="9778841" y="5673209"/>
            <a:ext cx="559118" cy="559118"/>
          </a:xfrm>
          <a:prstGeom prst="roundRect">
            <a:avLst>
              <a:gd name="adj" fmla="val 16354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46600" y="5840968"/>
            <a:ext cx="223599" cy="22359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47936" y="6418659"/>
            <a:ext cx="3305413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Иерархия и Стандартизация</a:t>
            </a:r>
            <a:endParaRPr lang="en-US" sz="1650" dirty="0"/>
          </a:p>
        </p:txBody>
      </p:sp>
      <p:sp>
        <p:nvSpPr>
          <p:cNvPr id="22" name="Text 16"/>
          <p:cNvSpPr/>
          <p:nvPr/>
        </p:nvSpPr>
        <p:spPr>
          <a:xfrm>
            <a:off x="6347936" y="6795135"/>
            <a:ext cx="7420928" cy="558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Усиление централизованного контроля над учебными программами и всей системой образования.</a:t>
            </a:r>
            <a:endParaRPr lang="en-US" sz="1450" dirty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243C4C0D-63C6-103F-8146-6B2B07947B76}"/>
              </a:ext>
            </a:extLst>
          </p:cNvPr>
          <p:cNvSpPr/>
          <p:nvPr/>
        </p:nvSpPr>
        <p:spPr>
          <a:xfrm>
            <a:off x="12674009" y="7581014"/>
            <a:ext cx="1828800" cy="57673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46B7C046-1966-1180-8DD3-95E5D8638B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509" y="1985104"/>
            <a:ext cx="5299488" cy="4848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869" y="675561"/>
            <a:ext cx="10130076" cy="697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Основные Отличия в Педагогике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859869" y="1864876"/>
            <a:ext cx="12910661" cy="5694045"/>
          </a:xfrm>
          <a:prstGeom prst="roundRect">
            <a:avLst>
              <a:gd name="adj" fmla="val 647"/>
            </a:avLst>
          </a:prstGeom>
          <a:noFill/>
          <a:ln w="1524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875109" y="1880116"/>
            <a:ext cx="12878872" cy="141589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1122283" y="2035135"/>
            <a:ext cx="3797379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Цель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18534" y="2035135"/>
            <a:ext cx="3793569" cy="1105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Всестороннее развитие личности и формирование "нового человека".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710976" y="2035135"/>
            <a:ext cx="3797379" cy="1105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Подготовка квалифицированных кадров для экономики и укрепление идеологии.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75109" y="3296007"/>
            <a:ext cx="12878872" cy="141589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1122283" y="3451027"/>
            <a:ext cx="3797379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Дисциплина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418534" y="3451027"/>
            <a:ext cx="3793569" cy="1105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Слабая, поощрение самостоятельности; отмена оценок и экзаменов.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710976" y="3451027"/>
            <a:ext cx="3797379" cy="1105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Строгая, возвращение оценок, формы, обязательных домашних заданий и экзаменов.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75109" y="4711898"/>
            <a:ext cx="12878872" cy="178450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1122283" y="4866918"/>
            <a:ext cx="3797379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Содержание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418534" y="4866918"/>
            <a:ext cx="3793569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Политехнизация; связь с трудом; экспериментальные методы.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710976" y="4866918"/>
            <a:ext cx="3797379" cy="147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Классическое академическое образование; четкие, унифицированные учебные программы.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75109" y="6496407"/>
            <a:ext cx="12878872" cy="104727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1122283" y="6651427"/>
            <a:ext cx="3797379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Контроль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418534" y="6651427"/>
            <a:ext cx="3793569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Децентрализованный, большая свобода местным школам.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710976" y="6651427"/>
            <a:ext cx="3797379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Строгий централизованный контроль (через Наркомпрос).</a:t>
            </a:r>
            <a:endParaRPr lang="en-US" sz="1900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B5D47952-243A-9791-3C7F-BED02C0E7659}"/>
              </a:ext>
            </a:extLst>
          </p:cNvPr>
          <p:cNvSpPr/>
          <p:nvPr/>
        </p:nvSpPr>
        <p:spPr>
          <a:xfrm>
            <a:off x="12674009" y="7581014"/>
            <a:ext cx="1828800" cy="57673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236" y="677942"/>
            <a:ext cx="7659529" cy="120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Сравнение Задач: Человек против Государства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742236" y="2201228"/>
            <a:ext cx="7659529" cy="95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Различия в подходах Ленина и Сталина отражают смену приоритетов в советской политике: от революционного идеализма к государственному прагматизму и культу личности.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742236" y="3393877"/>
            <a:ext cx="22860" cy="4157663"/>
          </a:xfrm>
          <a:prstGeom prst="roundRect">
            <a:avLst>
              <a:gd name="adj" fmla="val 139169"/>
            </a:avLst>
          </a:prstGeom>
          <a:solidFill>
            <a:srgbClr val="494A4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3"/>
          <p:cNvSpPr/>
          <p:nvPr/>
        </p:nvSpPr>
        <p:spPr>
          <a:xfrm>
            <a:off x="765096" y="3393877"/>
            <a:ext cx="7659529" cy="1866781"/>
          </a:xfrm>
          <a:prstGeom prst="rect">
            <a:avLst/>
          </a:prstGeom>
          <a:solidFill>
            <a:srgbClr val="30313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/>
          <p:nvPr/>
        </p:nvSpPr>
        <p:spPr>
          <a:xfrm>
            <a:off x="977146" y="3605927"/>
            <a:ext cx="429089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Ленин: Воспитание Творца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977146" y="4094559"/>
            <a:ext cx="7235428" cy="95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Главный акцент на </a:t>
            </a:r>
            <a:r>
              <a:rPr lang="en-US" sz="16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процесс</a:t>
            </a: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обучения и </a:t>
            </a:r>
            <a:r>
              <a:rPr lang="en-US" sz="16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коллективное самоопределение</a:t>
            </a: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учащихся. Целью было формирование критически мыслящего, гармоничного члена коммуны.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765096" y="5684758"/>
            <a:ext cx="7659529" cy="1866781"/>
          </a:xfrm>
          <a:prstGeom prst="rect">
            <a:avLst/>
          </a:prstGeom>
          <a:solidFill>
            <a:srgbClr val="30313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977146" y="5896808"/>
            <a:ext cx="5370909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Сталин: Воспитание Исполнителя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977146" y="6385441"/>
            <a:ext cx="7235428" cy="95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Главный акцент на </a:t>
            </a:r>
            <a:r>
              <a:rPr lang="en-US" sz="16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результат</a:t>
            </a: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и </a:t>
            </a:r>
            <a:r>
              <a:rPr lang="en-US" sz="16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строгую иерархию</a:t>
            </a: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знаний. Целью было формирование дисциплинированного, идеологически подкованного специалиста, преданного государству.</a:t>
            </a:r>
            <a:endParaRPr lang="en-US" sz="16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839" y="483037"/>
            <a:ext cx="13400723" cy="998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Ключевой Элемент Сталинского Образования: Восстановление Классики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14839" y="1832610"/>
            <a:ext cx="13400723" cy="527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Сталинская эпоха вернула в школу многие элементы, которые были отменены как "буржуазные" в 20-е годы. Это было сделано для повышения качества подготовки и соответствия мировым стандартам.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839" y="2557463"/>
            <a:ext cx="3331654" cy="34786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4839" y="6204832"/>
            <a:ext cx="2771537" cy="24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Возвращение Предметов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14839" y="6469528"/>
            <a:ext cx="4320540" cy="1054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Восстановление преподавания классических языков (латынь, греческий) в некоторых вузах, а также акцент на фундаментальные науки: математику, физику, химию.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4930" y="2557463"/>
            <a:ext cx="3478696" cy="34786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54930" y="6189691"/>
            <a:ext cx="2217063" cy="24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Единые Требования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5098137" y="6469528"/>
            <a:ext cx="4320540" cy="790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Введение единых требований к знаниям по всей стране, что было невозможно в период педагогической свободы Ленина.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5021" y="2557463"/>
            <a:ext cx="3478696" cy="34786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95021" y="6189690"/>
            <a:ext cx="2615684" cy="24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Усиление Роли Учителя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9581435" y="6477813"/>
            <a:ext cx="4320540" cy="790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Учитель вновь стал центральной фигурой в классе. Педагог требовал беспрекословного подчинения и отвечал за дисциплину.</a:t>
            </a:r>
            <a:endParaRPr lang="en-US" sz="135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5146AD1-CA5A-85CC-696B-4B72601D5270}"/>
              </a:ext>
            </a:extLst>
          </p:cNvPr>
          <p:cNvSpPr/>
          <p:nvPr/>
        </p:nvSpPr>
        <p:spPr>
          <a:xfrm>
            <a:off x="12695274" y="7570381"/>
            <a:ext cx="1850066" cy="57816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727" y="530066"/>
            <a:ext cx="9406652" cy="54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Выводы: От Эксперимента к Стандарту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74727" y="1463278"/>
            <a:ext cx="13280946" cy="867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Планы Ленина и Сталина представляли собой две фазы развития советской системы образования. Ленин стремился к идеальному обществу через свободную школу, в то время как Сталин использовал школу как инструмент для достижения государственных задач индустриализации и укрепления власти.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7557968" y="2764155"/>
            <a:ext cx="771168" cy="1430298"/>
          </a:xfrm>
          <a:prstGeom prst="roundRect">
            <a:avLst>
              <a:gd name="adj" fmla="val 360004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7798951" y="3298508"/>
            <a:ext cx="289084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8521898" y="2956917"/>
            <a:ext cx="3498890" cy="273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Эпоха Ленина (Эксперимент)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521898" y="3423523"/>
            <a:ext cx="5441394" cy="57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Свобода, политехника, децентрализация, борьба с неграмотностью.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557968" y="4387215"/>
            <a:ext cx="771168" cy="1430298"/>
          </a:xfrm>
          <a:prstGeom prst="roundRect">
            <a:avLst>
              <a:gd name="adj" fmla="val 360004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7798951" y="4921568"/>
            <a:ext cx="289084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8521898" y="4579977"/>
            <a:ext cx="3083362" cy="273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Эпоха Сталина (Стандарт)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521898" y="5046583"/>
            <a:ext cx="5441394" cy="57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Дисциплина, академизм, централизация, подготовка элиты и кадров.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74727" y="8001714"/>
            <a:ext cx="13280946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Оба этапа были необходимы для формирования той образовательной системы, которая просуществовала до распада Советского Союза.</a:t>
            </a:r>
            <a:endParaRPr lang="en-US" sz="150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ABAC8BC-6F7A-3466-6152-6F46D40E5D69}"/>
              </a:ext>
            </a:extLst>
          </p:cNvPr>
          <p:cNvSpPr/>
          <p:nvPr/>
        </p:nvSpPr>
        <p:spPr>
          <a:xfrm>
            <a:off x="12695274" y="7570381"/>
            <a:ext cx="1850066" cy="57816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587</Words>
  <Application>Microsoft Office PowerPoint</Application>
  <PresentationFormat>Произвольный</PresentationFormat>
  <Paragraphs>63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Montserrat Bold</vt:lpstr>
      <vt:lpstr>Source Sans 3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ti me</cp:lastModifiedBy>
  <cp:revision>3</cp:revision>
  <dcterms:created xsi:type="dcterms:W3CDTF">2025-11-06T13:58:13Z</dcterms:created>
  <dcterms:modified xsi:type="dcterms:W3CDTF">2025-11-06T16:47:34Z</dcterms:modified>
</cp:coreProperties>
</file>