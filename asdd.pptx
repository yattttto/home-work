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6" r:id="rId9"/>
  </p:sldIdLst>
  <p:sldSz cx="9144000" cy="5143500" type="screen16x9"/>
  <p:notesSz cx="5143500" cy="9144000"/>
  <p:embeddedFontLst>
    <p:embeddedFont>
      <p:font typeface="Instrument Sans Bold" pitchFamily="2" charset="0"/>
      <p:regular r:id="rId11"/>
    </p:embeddedFont>
    <p:embeddedFont>
      <p:font typeface="Instrument Sans Medium" charset="0"/>
      <p:regular r:id="rId12"/>
    </p:embeddedFont>
    <p:embeddedFont>
      <p:font typeface="Instrument Sans SemiBold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3.fntdata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2.fntdata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1.fntdata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CE1E1-487C-A043-8F43-AB72FD9DE8D4}" type="datetimeFigureOut">
              <a:rPr lang="ru-RU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78AB2D-87A6-F148-8DED-FFB2F4422F48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072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8.png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1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39217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Безопасность в общественных местах: как найти человека и снизить криминальные риски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22376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Краткое руководство для посетителей, организаторов мероприятий и ответственных за безопасность — практичные правила, алгоритмы поиска потерявшихся и простые меры профилактики.</a:t>
            </a:r>
            <a:endParaRPr lang="en-US" sz="11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599C5B-4095-D067-7EBC-B1A28DF5A4AC}"/>
              </a:ext>
            </a:extLst>
          </p:cNvPr>
          <p:cNvSpPr/>
          <p:nvPr/>
        </p:nvSpPr>
        <p:spPr>
          <a:xfrm>
            <a:off x="7675148" y="4760211"/>
            <a:ext cx="1406852" cy="38971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C970188-3B79-5EFD-A4CC-8C1F9AA5DAF7}"/>
              </a:ext>
            </a:extLst>
          </p:cNvPr>
          <p:cNvSpPr/>
          <p:nvPr/>
        </p:nvSpPr>
        <p:spPr>
          <a:xfrm>
            <a:off x="6808754" y="10557582"/>
            <a:ext cx="1162576" cy="37908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400943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Введение и цели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17379" y="1043062"/>
            <a:ext cx="473824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Актуальность: общественные места характеризуются высокой проходимостью, анонимностью и повышенным уровнем стресса это создаёт условия для потерь и ситуативной преступности.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676513" y="1913484"/>
            <a:ext cx="2541968" cy="1917725"/>
          </a:xfrm>
          <a:prstGeom prst="roundRect">
            <a:avLst>
              <a:gd name="adj" fmla="val 3056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42224" y="2017664"/>
            <a:ext cx="1868834" cy="25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Цель презентации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42224" y="2349966"/>
            <a:ext cx="2011859" cy="1328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Дать понятные правила </a:t>
            </a:r>
            <a:r>
              <a:rPr lang="ru-RU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безопасности</a:t>
            </a: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научить распознавать угрозы и предложить рабочий алгоритм поиска потерявшегося человека.</a:t>
            </a:r>
            <a:endParaRPr lang="en-US" sz="10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4F0C502-41A4-2343-A037-EC690290CF0C}"/>
              </a:ext>
            </a:extLst>
          </p:cNvPr>
          <p:cNvSpPr/>
          <p:nvPr/>
        </p:nvSpPr>
        <p:spPr>
          <a:xfrm>
            <a:off x="7324766" y="4742557"/>
            <a:ext cx="1819234" cy="36105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6089"/>
            <a:ext cx="488625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Базовые правила безопасности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98066" y="923181"/>
            <a:ext cx="7947794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Небольшие привычки заметно снижают риск проблем. Главное — предвидеть, контролировать вещи и заранее договариваться о действиях при расставании.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6" y="1362373"/>
            <a:ext cx="417761" cy="4177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2805" y="1362373"/>
            <a:ext cx="1364456" cy="5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Держите окружение в поле зрения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32805" y="1958280"/>
            <a:ext cx="1364456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Оценивайте потоки людей, точки выхода и заметные ориентиры.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240" y="1362373"/>
            <a:ext cx="417761" cy="4177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48980" y="1362373"/>
            <a:ext cx="136445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Контроль личных вещей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148980" y="1778347"/>
            <a:ext cx="1364456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Сумка спереди, карманы на молнии, минимум лишних предметов в руках.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415" y="1362373"/>
            <a:ext cx="417761" cy="4177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5154" y="1362373"/>
            <a:ext cx="136445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Избегайте опасных мест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165154" y="1778347"/>
            <a:ext cx="1364456" cy="834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Глухие переходы, тёмные углы и неохраняемые парковки — потенциальные риски.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6590" y="1362373"/>
            <a:ext cx="417835" cy="4178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81404" y="1362373"/>
            <a:ext cx="136445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Место встречи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181404" y="1598414"/>
            <a:ext cx="1364456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Согласуйте фиксированную точку на случай расставания — ориентир и время.</a:t>
            </a:r>
            <a:endParaRPr lang="en-US" sz="9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89FC7AF-40D0-639C-9AAA-14F94E4A29EC}"/>
              </a:ext>
            </a:extLst>
          </p:cNvPr>
          <p:cNvSpPr/>
          <p:nvPr/>
        </p:nvSpPr>
        <p:spPr>
          <a:xfrm>
            <a:off x="7915720" y="4738512"/>
            <a:ext cx="1156483" cy="404988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362" y="411063"/>
            <a:ext cx="4924276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Криминальные опасности в общественных местах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5362" y="1251942"/>
            <a:ext cx="4924276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Понимание типичных угроз помогает распознать признаки преступной активности и предотвратить её.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5362" y="1677888"/>
            <a:ext cx="1581448" cy="1473324"/>
          </a:xfrm>
          <a:prstGeom prst="roundRect">
            <a:avLst>
              <a:gd name="adj" fmla="val 3220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2610" y="1805136"/>
            <a:ext cx="132695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Карманные кражи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2610" y="2035597"/>
            <a:ext cx="1326952" cy="974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«Накладки», толчки в очередях, отвлекающие манёвры — чаще всего ситуативно и организованно.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066776" y="1677888"/>
            <a:ext cx="1581448" cy="1473324"/>
          </a:xfrm>
          <a:prstGeom prst="roundRect">
            <a:avLst>
              <a:gd name="adj" fmla="val 3220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94024" y="1805136"/>
            <a:ext cx="132695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Мошенничество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94024" y="2035597"/>
            <a:ext cx="1326952" cy="974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Фальшивые сборы, подставные кошельки, незарегистрированные такси — просите документы и квитанции.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738190" y="1677888"/>
            <a:ext cx="1581448" cy="1473324"/>
          </a:xfrm>
          <a:prstGeom prst="roundRect">
            <a:avLst>
              <a:gd name="adj" fmla="val 3220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65438" y="1805136"/>
            <a:ext cx="1326952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Агрессия и провокации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65438" y="2212107"/>
            <a:ext cx="1326952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Имитация помощи, групповое давление, провокационные действия с целью провокации конфликта.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95362" y="3241179"/>
            <a:ext cx="4924276" cy="809699"/>
          </a:xfrm>
          <a:prstGeom prst="roundRect">
            <a:avLst>
              <a:gd name="adj" fmla="val 5860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2610" y="3368427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Кибер-угрозы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2610" y="3598887"/>
            <a:ext cx="4669780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Публичные Wi‑Fi — площадка для фишинга и перехвата данных; используйте мобильные сети или VPN.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5362" y="4152081"/>
            <a:ext cx="4924276" cy="580355"/>
          </a:xfrm>
          <a:prstGeom prst="roundRect">
            <a:avLst>
              <a:gd name="adj" fmla="val 8176"/>
            </a:avLst>
          </a:prstGeom>
          <a:solidFill>
            <a:srgbClr val="4B3F02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2" y="4313411"/>
            <a:ext cx="141163" cy="11296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2446" y="4270251"/>
            <a:ext cx="4444231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Важно: большинство правонарушений ситуативны и предотвращаются внимательным поведением.</a:t>
            </a:r>
            <a:endParaRPr lang="en-US" sz="8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CB91A62-ED58-E80A-B099-9CF9A9AE7591}"/>
              </a:ext>
            </a:extLst>
          </p:cNvPr>
          <p:cNvSpPr/>
          <p:nvPr/>
        </p:nvSpPr>
        <p:spPr>
          <a:xfrm>
            <a:off x="7501906" y="4732436"/>
            <a:ext cx="1642094" cy="36008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72889"/>
            <a:ext cx="8260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Алгоритм поиска потерявшегося человек</a:t>
            </a:r>
            <a:r>
              <a:rPr lang="ru-RU" sz="24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386855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71" y="1587103"/>
            <a:ext cx="2678460" cy="14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1871" y="1678781"/>
            <a:ext cx="2678460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0–15 минут: оставайтесь спокойными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41871" y="2140744"/>
            <a:ext cx="267846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Восстановите маршрут, определите последнее известное место и опросите прохожих — паника мешает.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232770" y="1386855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770" y="1599754"/>
            <a:ext cx="267846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32770" y="167878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Сообщите службам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32770" y="1943472"/>
            <a:ext cx="267846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Информируйте охрану, администрацию и полицию; попросите объявление по громкой связи при наличии.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023670" y="1386855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670" y="1599754"/>
            <a:ext cx="2678460" cy="142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3670" y="167878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Ориентировка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23670" y="1943472"/>
            <a:ext cx="267846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Подготовьте фото, описание одежды, рост, возраст, особенности (шрамы, очки) и время/место пропажи.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41871" y="2920678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71" y="3108350"/>
            <a:ext cx="4073872" cy="142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1871" y="3212604"/>
            <a:ext cx="161560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Координация поиска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441871" y="3477295"/>
            <a:ext cx="407387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Назначьте одного ответственного, разделите зоны поиска и избегайте хаоса.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628183" y="2920678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183" y="3108350"/>
            <a:ext cx="4073947" cy="142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628183" y="3212604"/>
            <a:ext cx="16128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Онлайн и волонтёры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4628183" y="3477295"/>
            <a:ext cx="407394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Используйте мессенджеры и проверённые группы, но не доверяйте непроверённым объявлениям; избегайте публикации личных данных.</a:t>
            </a:r>
            <a:endParaRPr lang="en-US" sz="95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7419BB-AF34-4283-FA79-95D9E3268EE5}"/>
              </a:ext>
            </a:extLst>
          </p:cNvPr>
          <p:cNvSpPr/>
          <p:nvPr/>
        </p:nvSpPr>
        <p:spPr>
          <a:xfrm>
            <a:off x="7296123" y="4754724"/>
            <a:ext cx="1847877" cy="384572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689642" y="416122"/>
            <a:ext cx="6698812" cy="104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Чек-лист безопасности</a:t>
            </a:r>
            <a:endParaRPr lang="ru-RU" sz="2400" dirty="0">
              <a:solidFill>
                <a:srgbClr val="CBCCCE"/>
              </a:solidFill>
              <a:latin typeface="Instrument Sans SemiBold" pitchFamily="34" charset="0"/>
              <a:ea typeface="Instrument Sans SemiBold" pitchFamily="34" charset="-122"/>
              <a:cs typeface="Instrument Sans Semi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2689643" y="1278595"/>
            <a:ext cx="1825312" cy="1632645"/>
          </a:xfrm>
          <a:prstGeom prst="roundRect">
            <a:avLst>
              <a:gd name="adj" fmla="val 3376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100492" y="1443967"/>
            <a:ext cx="128572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Перед выходом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830699" y="1829471"/>
            <a:ext cx="1543199" cy="943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Сумка/рюкзак застёгнуты и находятся спереди; документы в внутренних карманах.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514826" y="1278595"/>
            <a:ext cx="1543273" cy="1632645"/>
          </a:xfrm>
          <a:prstGeom prst="roundRect">
            <a:avLst>
              <a:gd name="adj" fmla="val 3376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6866" y="1559845"/>
            <a:ext cx="128580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 пути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43561" y="1939770"/>
            <a:ext cx="1285801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Место встречи согласовано; номера 112 и контактное лицо в быстром наборе.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20291" y="3102895"/>
            <a:ext cx="4846662" cy="888504"/>
          </a:xfrm>
          <a:prstGeom prst="roundRect">
            <a:avLst>
              <a:gd name="adj" fmla="val 5864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43100" y="31972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При потере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941093" y="3528734"/>
            <a:ext cx="45891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Сразу к охране/полиции, не бегать хаотично, назначить координатора поиска.</a:t>
            </a:r>
            <a:endParaRPr lang="en-US" sz="9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EB4A72D-249F-3D3C-9778-818BD9B13B3B}"/>
              </a:ext>
            </a:extLst>
          </p:cNvPr>
          <p:cNvSpPr/>
          <p:nvPr/>
        </p:nvSpPr>
        <p:spPr>
          <a:xfrm>
            <a:off x="7530282" y="4725384"/>
            <a:ext cx="1613717" cy="37207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324505" y="393799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Заключение и ключевые выводы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267776" y="1414015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49094" y="1460450"/>
            <a:ext cx="217155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Безопасность — привычка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75440" y="1806481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Регулярные простые действия снижают риск происшествий и ускоряют поиск.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14692" y="247795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9094" y="2565016"/>
            <a:ext cx="227632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Алгоритмы экономят время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0800" y="2943672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Чёткий план действий и один ответственный позволяют быстро координировать помощь.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4692" y="3700686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9094" y="3793554"/>
            <a:ext cx="193885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Внимательность + план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0800" y="4138945"/>
            <a:ext cx="4336479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Вместо паники — координация: внимание к деталям и базовые инструменты повышают шансы на успешный исход.</a:t>
            </a:r>
            <a:endParaRPr lang="en-US" sz="10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5CCAEF6-F529-5847-A593-8BF1AF217667}"/>
              </a:ext>
            </a:extLst>
          </p:cNvPr>
          <p:cNvSpPr/>
          <p:nvPr/>
        </p:nvSpPr>
        <p:spPr>
          <a:xfrm>
            <a:off x="7834045" y="4767262"/>
            <a:ext cx="1234671" cy="35599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299519" y="4686111"/>
            <a:ext cx="4769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D5D5D8"/>
                </a:highlight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Финальная мысль:</a:t>
            </a: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«Лучше потратить 5 минут н</a:t>
            </a:r>
            <a:r>
              <a:rPr lang="ru-RU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 объяснение</a:t>
            </a:r>
            <a:r>
              <a:rPr lang="en-US" sz="10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чем часы на поиск».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E14B85-179E-88D8-7753-A87A2D8DF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8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ti me</cp:lastModifiedBy>
  <cp:revision>3</cp:revision>
  <dcterms:created xsi:type="dcterms:W3CDTF">2026-05-22T09:46:18Z</dcterms:created>
  <dcterms:modified xsi:type="dcterms:W3CDTF">2026-05-22T10:29:30Z</dcterms:modified>
</cp:coreProperties>
</file>